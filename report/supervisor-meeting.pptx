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601200" y="365760"/>
            <a:ext cx="2011680" cy="50292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ADN Level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Cloud-Native AI Operations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651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CF0A2C"/>
                </a:solidFill>
              </a:defRPr>
            </a:pPr>
            <a:r>
              <a:t>for CEM–CVM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657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AAABB"/>
                </a:solidFill>
              </a:defRPr>
            </a:pPr>
            <a:r>
              <a:t>An Autonomous Agent That Detects, Decides, and Acts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4389120"/>
            <a:ext cx="3657600" cy="381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4754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DC3C7"/>
                </a:solidFill>
              </a:defRPr>
            </a:pPr>
            <a:r>
              <a:t>Souhayl Guenichi  |  ESPRIT × Huawei Tunisia  |  March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3035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BB"/>
                </a:solidFill>
              </a:defRPr>
            </a:pPr>
            <a:r>
              <a:t>Supervisor Meeting — Progress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</a:defRPr>
            </a:pPr>
            <a:r>
              <a:t>Two data worlds that never talk to each other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114800" cy="2926080"/>
          </a:xfrm>
          <a:prstGeom prst="roundRect">
            <a:avLst/>
          </a:prstGeom>
          <a:solidFill>
            <a:srgbClr val="2E86AB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OSS — Network</a:t>
            </a:r>
          </a:p>
          <a:p>
            <a:pPr algn="l">
              <a:spcBef>
                <a:spcPts val="400"/>
              </a:spcBef>
              <a:defRPr sz="8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</a:defRPr>
            </a:pPr>
            <a:r>
              <a:t>Throughput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</a:defRPr>
            </a:pPr>
            <a:r>
              <a:t>Latency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</a:defRPr>
            </a:pPr>
            <a:r>
              <a:t>Packet Loss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</a:defRPr>
            </a:pPr>
            <a:r>
              <a:t>Signal Quality (RSRP)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</a:defRPr>
            </a:pPr>
            <a:r>
              <a:t>Cell Load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2286000"/>
            <a:ext cx="1828800" cy="1371600"/>
          </a:xfrm>
          <a:prstGeom prst="round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GAP</a:t>
            </a:r>
            <a:br/>
            <a:r>
              <a:t>No bridge</a:t>
            </a:r>
            <a:br/>
            <a:r>
              <a:t>No 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645920"/>
            <a:ext cx="4114800" cy="2926080"/>
          </a:xfrm>
          <a:prstGeom prst="roundRect">
            <a:avLst/>
          </a:prstGeom>
          <a:solidFill>
            <a:srgbClr val="2ECC71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BSS — Business</a:t>
            </a:r>
          </a:p>
          <a:p>
            <a:pPr algn="l">
              <a:spcBef>
                <a:spcPts val="400"/>
              </a:spcBef>
              <a:defRPr sz="8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</a:defRPr>
            </a:pPr>
            <a:r>
              <a:t>Revenue / ARPU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</a:defRPr>
            </a:pPr>
            <a:r>
              <a:t>Churn Risk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</a:defRPr>
            </a:pPr>
            <a:r>
              <a:t>Data Usage (DOU)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</a:defRPr>
            </a:pPr>
            <a:r>
              <a:t>Voice / SMS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</a:defRPr>
            </a:pPr>
            <a:r>
              <a:t>Subscriber Profiles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74C3C"/>
                </a:solidFill>
              </a:defRPr>
            </a:pPr>
            <a:r>
              <a:t>When a cell degrades, the business feels it DAYS later. Nobody connects the dots. Nobody acts.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Our Solution: The AI Operations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</a:defRPr>
            </a:pPr>
            <a:r>
              <a:t>CEM → AI Agent → CVM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743200" cy="1828800"/>
          </a:xfrm>
          <a:prstGeom prst="round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CEM</a:t>
            </a:r>
          </a:p>
          <a:p>
            <a:pPr algn="ctr">
              <a:spcBef>
                <a:spcPts val="400"/>
              </a:spcBef>
              <a:defRPr sz="1300" b="0">
                <a:solidFill>
                  <a:srgbClr val="FFFFFF"/>
                </a:solidFill>
              </a:defRPr>
            </a:pPr>
            <a:r>
              <a:t>Huawei SmartCare</a:t>
            </a:r>
          </a:p>
          <a:p>
            <a:pPr algn="ctr">
              <a:spcBef>
                <a:spcPts val="400"/>
              </a:spcBef>
              <a:defRPr sz="1200" b="0">
                <a:solidFill>
                  <a:srgbClr val="FFFFFF"/>
                </a:solidFill>
              </a:defRPr>
            </a:pPr>
            <a:r>
              <a:t>KPI / KQI / CEI</a:t>
            </a:r>
          </a:p>
          <a:p>
            <a:pPr algn="ctr">
              <a:spcBef>
                <a:spcPts val="400"/>
              </a:spcBef>
              <a:defRPr sz="1200" b="0">
                <a:solidFill>
                  <a:srgbClr val="FFFFFF"/>
                </a:solidFill>
              </a:defRPr>
            </a:pPr>
            <a:r>
              <a:t>Experience Data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657600" y="2377440"/>
            <a:ext cx="914400" cy="548640"/>
          </a:xfrm>
          <a:prstGeom prst="rightArrow">
            <a:avLst/>
          </a:prstGeom>
          <a:solidFill>
            <a:srgbClr val="AA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754880" y="1554480"/>
            <a:ext cx="2926080" cy="256032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AI Operations Agent</a:t>
            </a:r>
          </a:p>
          <a:p>
            <a:pPr algn="l">
              <a:spcBef>
                <a:spcPts val="400"/>
              </a:spcBef>
              <a:defRPr sz="600" b="0">
                <a:solidFill>
                  <a:srgbClr val="FFFFFF"/>
                </a:solidFill>
              </a:defRPr>
            </a:pPr>
          </a:p>
          <a:p>
            <a:pPr algn="ctr"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DETECT</a:t>
            </a:r>
          </a:p>
          <a:p>
            <a:pPr algn="ctr">
              <a:spcBef>
                <a:spcPts val="400"/>
              </a:spcBef>
              <a:defRPr sz="1100" b="0">
                <a:solidFill>
                  <a:srgbClr val="BDC3C7"/>
                </a:solidFill>
              </a:defRPr>
            </a:pPr>
            <a:r>
              <a:t>Anomalies + SLA Risk</a:t>
            </a:r>
          </a:p>
          <a:p>
            <a:pPr algn="ctr"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DECIDE</a:t>
            </a:r>
          </a:p>
          <a:p>
            <a:pPr algn="ctr">
              <a:spcBef>
                <a:spcPts val="400"/>
              </a:spcBef>
              <a:defRPr sz="1100" b="0">
                <a:solidFill>
                  <a:srgbClr val="BDC3C7"/>
                </a:solidFill>
              </a:defRPr>
            </a:pPr>
            <a:r>
              <a:t>O+B Correlation + Rules</a:t>
            </a:r>
          </a:p>
          <a:p>
            <a:pPr algn="ctr"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ACT</a:t>
            </a:r>
          </a:p>
          <a:p>
            <a:pPr algn="ctr">
              <a:spcBef>
                <a:spcPts val="400"/>
              </a:spcBef>
              <a:defRPr sz="1100" b="0">
                <a:solidFill>
                  <a:srgbClr val="BDC3C7"/>
                </a:solidFill>
              </a:defRPr>
            </a:pPr>
            <a:r>
              <a:t>Recommendations + Triggers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863840" y="2377440"/>
            <a:ext cx="914400" cy="548640"/>
          </a:xfrm>
          <a:prstGeom prst="rightArrow">
            <a:avLst/>
          </a:prstGeom>
          <a:solidFill>
            <a:srgbClr val="AA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61120" y="1828800"/>
            <a:ext cx="2743200" cy="182880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CVM</a:t>
            </a:r>
          </a:p>
          <a:p>
            <a:pPr algn="ctr">
              <a:spcBef>
                <a:spcPts val="400"/>
              </a:spcBef>
              <a:defRPr sz="1300" b="0">
                <a:solidFill>
                  <a:srgbClr val="FFFFFF"/>
                </a:solidFill>
              </a:defRPr>
            </a:pPr>
            <a:r>
              <a:t>Customer Value Mgmt</a:t>
            </a:r>
          </a:p>
          <a:p>
            <a:pPr algn="ctr">
              <a:spcBef>
                <a:spcPts val="400"/>
              </a:spcBef>
              <a:defRPr sz="1200" b="0">
                <a:solidFill>
                  <a:srgbClr val="FFFFFF"/>
                </a:solidFill>
              </a:defRPr>
            </a:pPr>
            <a:r>
              <a:t>Churn / Upsell / Retain</a:t>
            </a:r>
          </a:p>
          <a:p>
            <a:pPr algn="ctr">
              <a:spcBef>
                <a:spcPts val="400"/>
              </a:spcBef>
              <a:defRPr sz="1200" b="0">
                <a:solidFill>
                  <a:srgbClr val="FFFFFF"/>
                </a:solidFill>
              </a:defRPr>
            </a:pPr>
            <a:r>
              <a:t>Revenue Impact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846320"/>
            <a:ext cx="2560320" cy="594360"/>
          </a:xfrm>
          <a:prstGeom prst="roundRect">
            <a:avLst/>
          </a:prstGeom>
          <a:solidFill>
            <a:srgbClr val="2C3E50"/>
          </a:solidFill>
          <a:ln w="190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Real TT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49039" y="4846320"/>
            <a:ext cx="2560320" cy="594360"/>
          </a:xfrm>
          <a:prstGeom prst="roundRect">
            <a:avLst/>
          </a:prstGeom>
          <a:solidFill>
            <a:srgbClr val="2C3E50"/>
          </a:solidFill>
          <a:ln w="190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Cloud-Native (HCS)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4846320"/>
            <a:ext cx="2560320" cy="594360"/>
          </a:xfrm>
          <a:prstGeom prst="roundRect">
            <a:avLst/>
          </a:prstGeom>
          <a:solidFill>
            <a:srgbClr val="2C3E50"/>
          </a:solidFill>
          <a:ln w="190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O+B Convergence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18320" y="4846320"/>
            <a:ext cx="2560320" cy="594360"/>
          </a:xfrm>
          <a:prstGeom prst="roundRect">
            <a:avLst/>
          </a:prstGeom>
          <a:solidFill>
            <a:srgbClr val="2C3E50"/>
          </a:solidFill>
          <a:ln w="190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Autonomous Actions (L4)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How It Works: 5-Phase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</a:defRPr>
            </a:pPr>
            <a:r>
              <a:t>From raw operator data to autonomous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71600" y="1554480"/>
            <a:ext cx="9144000" cy="777240"/>
          </a:xfrm>
          <a:prstGeom prst="round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Phase 1: Data Ingestion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BDC3C7"/>
                </a:solidFill>
              </a:defRPr>
            </a:pPr>
            <a:r>
              <a:t>Ingest real TT data into data lake</a:t>
            </a:r>
          </a:p>
        </p:txBody>
      </p:sp>
      <p:sp>
        <p:nvSpPr>
          <p:cNvPr id="6" name="Down Arrow 5"/>
          <p:cNvSpPr/>
          <p:nvPr/>
        </p:nvSpPr>
        <p:spPr>
          <a:xfrm>
            <a:off x="5760720" y="2286000"/>
            <a:ext cx="365760" cy="228600"/>
          </a:xfrm>
          <a:prstGeom prst="downArrow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371600" y="2514600"/>
            <a:ext cx="9144000" cy="77724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Phase 2: Feature Engineering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BDC3C7"/>
                </a:solidFill>
              </a:defRPr>
            </a:pPr>
            <a:r>
              <a:t>Build meaningful features from OSS+BSS</a:t>
            </a:r>
          </a:p>
        </p:txBody>
      </p:sp>
      <p:sp>
        <p:nvSpPr>
          <p:cNvPr id="8" name="Down Arrow 7"/>
          <p:cNvSpPr/>
          <p:nvPr/>
        </p:nvSpPr>
        <p:spPr>
          <a:xfrm>
            <a:off x="5760720" y="3246120"/>
            <a:ext cx="365760" cy="228600"/>
          </a:xfrm>
          <a:prstGeom prst="downArrow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71600" y="3474720"/>
            <a:ext cx="9144000" cy="77724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Phase 3: AI Inference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BDC3C7"/>
                </a:solidFill>
              </a:defRPr>
            </a:pPr>
            <a:r>
              <a:t>SLA risk, anomalies, correlations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760720" y="4206240"/>
            <a:ext cx="365760" cy="228600"/>
          </a:xfrm>
          <a:prstGeom prst="downArrow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371600" y="4434840"/>
            <a:ext cx="9144000" cy="77724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Phase 4: Decision &amp; Action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BDC3C7"/>
                </a:solidFill>
              </a:defRPr>
            </a:pPr>
            <a:r>
              <a:t>Evaluate rules, generate recommendations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760720" y="5166360"/>
            <a:ext cx="365760" cy="228600"/>
          </a:xfrm>
          <a:prstGeom prst="downArrow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371600" y="5394960"/>
            <a:ext cx="9144000" cy="77724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Phase 5: Curation &amp; Persist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BDC3C7"/>
                </a:solidFill>
              </a:defRPr>
            </a:pPr>
            <a:r>
              <a:t>Store curated data + actions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The Intelligence Layer: AI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</a:defRPr>
            </a:pPr>
            <a:r>
              <a:t>Four AI components working together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303520" cy="182880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SLA Risk Prediction</a:t>
            </a:r>
          </a:p>
          <a:p>
            <a:pPr algn="l">
              <a:spcBef>
                <a:spcPts val="400"/>
              </a:spcBef>
              <a:defRPr sz="600" b="0">
                <a:solidFill>
                  <a:srgbClr val="FFFFFF"/>
                </a:solidFill>
              </a:defRPr>
            </a:pPr>
          </a:p>
          <a:p>
            <a:pPr algn="ctr">
              <a:spcBef>
                <a:spcPts val="400"/>
              </a:spcBef>
              <a:defRPr sz="1300" b="0">
                <a:solidFill>
                  <a:srgbClr val="BDC3C7"/>
                </a:solidFill>
              </a:defRPr>
            </a:pPr>
            <a:r>
              <a:t>"How likely is this region to breach SLA?"</a:t>
            </a:r>
          </a:p>
          <a:p>
            <a:pPr algn="ctr">
              <a:spcBef>
                <a:spcPts val="400"/>
              </a:spcBef>
              <a:defRPr sz="1200" b="0">
                <a:solidFill>
                  <a:srgbClr val="FFFFFF"/>
                </a:solidFill>
              </a:defRPr>
            </a:pPr>
            <a:r>
              <a:t>Output: Score 0–1 per region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54480"/>
            <a:ext cx="5303520" cy="182880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Network Anomaly Detection</a:t>
            </a:r>
          </a:p>
          <a:p>
            <a:pPr algn="l">
              <a:spcBef>
                <a:spcPts val="400"/>
              </a:spcBef>
              <a:defRPr sz="600" b="0">
                <a:solidFill>
                  <a:srgbClr val="FFFFFF"/>
                </a:solidFill>
              </a:defRPr>
            </a:pPr>
          </a:p>
          <a:p>
            <a:pPr algn="ctr">
              <a:spcBef>
                <a:spcPts val="400"/>
              </a:spcBef>
              <a:defRPr sz="1300" b="0">
                <a:solidFill>
                  <a:srgbClr val="BDC3C7"/>
                </a:solidFill>
              </a:defRPr>
            </a:pPr>
            <a:r>
              <a:t>"Is this cell behaving abnormally?"</a:t>
            </a:r>
          </a:p>
          <a:p>
            <a:pPr algn="ctr">
              <a:spcBef>
                <a:spcPts val="400"/>
              </a:spcBef>
              <a:defRPr sz="1200" b="0">
                <a:solidFill>
                  <a:srgbClr val="FFFFFF"/>
                </a:solidFill>
              </a:defRPr>
            </a:pPr>
            <a:r>
              <a:t>Output: Anomaly flag + severity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49040"/>
            <a:ext cx="5303520" cy="182880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Revenue Anomaly Detection</a:t>
            </a:r>
          </a:p>
          <a:p>
            <a:pPr algn="l">
              <a:spcBef>
                <a:spcPts val="400"/>
              </a:spcBef>
              <a:defRPr sz="600" b="0">
                <a:solidFill>
                  <a:srgbClr val="FFFFFF"/>
                </a:solidFill>
              </a:defRPr>
            </a:pPr>
          </a:p>
          <a:p>
            <a:pPr algn="ctr">
              <a:spcBef>
                <a:spcPts val="400"/>
              </a:spcBef>
              <a:defRPr sz="1300" b="0">
                <a:solidFill>
                  <a:srgbClr val="BDC3C7"/>
                </a:solidFill>
              </a:defRPr>
            </a:pPr>
            <a:r>
              <a:t>"Is subscriber revenue dropping?"</a:t>
            </a:r>
          </a:p>
          <a:p>
            <a:pPr algn="ctr">
              <a:spcBef>
                <a:spcPts val="400"/>
              </a:spcBef>
              <a:defRPr sz="1200" b="0">
                <a:solidFill>
                  <a:srgbClr val="FFFFFF"/>
                </a:solidFill>
              </a:defRPr>
            </a:pPr>
            <a:r>
              <a:t>Output: Revenue anomaly flags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3749040"/>
            <a:ext cx="5303520" cy="182880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O+B Correlation Engine</a:t>
            </a:r>
          </a:p>
          <a:p>
            <a:pPr algn="l">
              <a:spcBef>
                <a:spcPts val="400"/>
              </a:spcBef>
              <a:defRPr sz="600" b="0">
                <a:solidFill>
                  <a:srgbClr val="FFFFFF"/>
                </a:solidFill>
              </a:defRPr>
            </a:pPr>
          </a:p>
          <a:p>
            <a:pPr algn="ctr">
              <a:spcBef>
                <a:spcPts val="400"/>
              </a:spcBef>
              <a:defRPr sz="1300" b="0">
                <a:solidFill>
                  <a:srgbClr val="BDC3C7"/>
                </a:solidFill>
              </a:defRPr>
            </a:pPr>
            <a:r>
              <a:t>"When network degrades, what happens to revenue?"</a:t>
            </a:r>
          </a:p>
          <a:p>
            <a:pPr algn="ctr">
              <a:spcBef>
                <a:spcPts val="400"/>
              </a:spcBef>
              <a:defRPr sz="1200" b="0">
                <a:solidFill>
                  <a:srgbClr val="FFFFFF"/>
                </a:solidFill>
              </a:defRPr>
            </a:pPr>
            <a:r>
              <a:t>Output: Pearson + Spearman coefficients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760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74C3C"/>
                </a:solidFill>
              </a:defRPr>
            </a:pPr>
            <a:r>
              <a:t>All outputs feed into the Decision &amp; Action Engine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The Action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</a:defRPr>
            </a:pPr>
            <a:r>
              <a:t>What makes us L4 — not just analytics, autonomous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4114800" cy="50292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Trigger Condition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554480"/>
            <a:ext cx="4114800" cy="50292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Action Generated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554480"/>
            <a:ext cx="2560320" cy="50292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Priority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48840"/>
            <a:ext cx="4114800" cy="502920"/>
          </a:xfrm>
          <a:prstGeom prst="roundRect">
            <a:avLst/>
          </a:prstGeom>
          <a:solidFill>
            <a:srgbClr val="22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High SLA Risk (&gt; 0.7)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2148840"/>
            <a:ext cx="4114800" cy="502920"/>
          </a:xfrm>
          <a:prstGeom prst="roundRect">
            <a:avLst/>
          </a:prstGeom>
          <a:solidFill>
            <a:srgbClr val="22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Proactive Alert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2148840"/>
            <a:ext cx="2560320" cy="5029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Critical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743200"/>
            <a:ext cx="4114800" cy="502920"/>
          </a:xfrm>
          <a:prstGeom prst="roundRect">
            <a:avLst/>
          </a:prstGeom>
          <a:solidFill>
            <a:srgbClr val="28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OSS Anomaly + Revenue Drop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2743200"/>
            <a:ext cx="4114800" cy="502920"/>
          </a:xfrm>
          <a:prstGeom prst="roundRect">
            <a:avLst/>
          </a:prstGeom>
          <a:solidFill>
            <a:srgbClr val="28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Churn Prevention Campaign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2743200"/>
            <a:ext cx="2560320" cy="502920"/>
          </a:xfrm>
          <a:prstGeom prst="round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High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37560"/>
            <a:ext cx="4114800" cy="502920"/>
          </a:xfrm>
          <a:prstGeom prst="roundRect">
            <a:avLst/>
          </a:prstGeom>
          <a:solidFill>
            <a:srgbClr val="22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Healthy Network + Revenue Spike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3337560"/>
            <a:ext cx="4114800" cy="502920"/>
          </a:xfrm>
          <a:prstGeom prst="roundRect">
            <a:avLst/>
          </a:prstGeom>
          <a:solidFill>
            <a:srgbClr val="22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Upsell Opportunity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3337560"/>
            <a:ext cx="2560320" cy="50292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Medium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4114800" cy="502920"/>
          </a:xfrm>
          <a:prstGeom prst="roundRect">
            <a:avLst/>
          </a:prstGeom>
          <a:solidFill>
            <a:srgbClr val="28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Significant O+B Correlation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0" y="3931920"/>
            <a:ext cx="4114800" cy="502920"/>
          </a:xfrm>
          <a:prstGeom prst="roundRect">
            <a:avLst/>
          </a:prstGeom>
          <a:solidFill>
            <a:srgbClr val="28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Insight Report for CVM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20" y="3931920"/>
            <a:ext cx="2560320" cy="50292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526280"/>
            <a:ext cx="4114800" cy="502920"/>
          </a:xfrm>
          <a:prstGeom prst="roundRect">
            <a:avLst/>
          </a:prstGeom>
          <a:solidFill>
            <a:srgbClr val="22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Multiple Anomalies, Same Region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80" y="4526280"/>
            <a:ext cx="4114800" cy="502920"/>
          </a:xfrm>
          <a:prstGeom prst="roundRect">
            <a:avLst/>
          </a:prstGeom>
          <a:solidFill>
            <a:srgbClr val="22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Escalation Ticket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4526280"/>
            <a:ext cx="2560320" cy="5029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Critical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212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BB"/>
                </a:solidFill>
              </a:defRPr>
            </a:pPr>
            <a:r>
              <a:t>Action Lifecycle:  Generated  →  Pending  →  Approved / Dismissed  →  Executed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The agent decides and acts. Humans handle edge cases only.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Architecture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</a:defRPr>
            </a:pPr>
            <a:r>
              <a:t>5 containerised microservices, cloud-portable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2103120" cy="201168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API Gateway</a:t>
            </a:r>
          </a:p>
          <a:p>
            <a:pPr algn="l">
              <a:spcBef>
                <a:spcPts val="400"/>
              </a:spcBef>
              <a:defRPr sz="600" b="0">
                <a:solidFill>
                  <a:srgbClr val="FFFFFF"/>
                </a:solidFill>
              </a:defRPr>
            </a:pPr>
          </a:p>
          <a:p>
            <a:pPr algn="ctr">
              <a:spcBef>
                <a:spcPts val="400"/>
              </a:spcBef>
              <a:defRPr sz="1100" b="0">
                <a:solidFill>
                  <a:srgbClr val="BDC3C7"/>
                </a:solidFill>
              </a:defRPr>
            </a:pPr>
            <a:r>
              <a:t>REST interface for</a:t>
            </a:r>
            <a:br/>
            <a:r>
              <a:t>consuming results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88920" y="1645920"/>
            <a:ext cx="2103120" cy="201168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AI Service</a:t>
            </a:r>
          </a:p>
          <a:p>
            <a:pPr algn="l">
              <a:spcBef>
                <a:spcPts val="400"/>
              </a:spcBef>
              <a:defRPr sz="600" b="0">
                <a:solidFill>
                  <a:srgbClr val="FFFFFF"/>
                </a:solidFill>
              </a:defRPr>
            </a:pPr>
          </a:p>
          <a:p>
            <a:pPr algn="ctr">
              <a:spcBef>
                <a:spcPts val="400"/>
              </a:spcBef>
              <a:defRPr sz="1100" b="0">
                <a:solidFill>
                  <a:srgbClr val="BDC3C7"/>
                </a:solidFill>
              </a:defRPr>
            </a:pPr>
            <a:r>
              <a:t>ML models for</a:t>
            </a:r>
            <a:br/>
            <a:r>
              <a:t>inference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645920"/>
            <a:ext cx="2103120" cy="2011680"/>
          </a:xfrm>
          <a:prstGeom prst="round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Pipeline Worker</a:t>
            </a:r>
          </a:p>
          <a:p>
            <a:pPr algn="l">
              <a:spcBef>
                <a:spcPts val="400"/>
              </a:spcBef>
              <a:defRPr sz="600" b="0">
                <a:solidFill>
                  <a:srgbClr val="FFFFFF"/>
                </a:solidFill>
              </a:defRPr>
            </a:pPr>
          </a:p>
          <a:p>
            <a:pPr algn="ctr">
              <a:spcBef>
                <a:spcPts val="400"/>
              </a:spcBef>
              <a:defRPr sz="1100" b="0">
                <a:solidFill>
                  <a:srgbClr val="BDC3C7"/>
                </a:solidFill>
              </a:defRPr>
            </a:pPr>
            <a:r>
              <a:t>Orchestrates the</a:t>
            </a:r>
            <a:br/>
            <a:r>
              <a:t>5-phase pipeline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59" y="1645920"/>
            <a:ext cx="2103120" cy="201168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PostgreSQL</a:t>
            </a:r>
          </a:p>
          <a:p>
            <a:pPr algn="l">
              <a:spcBef>
                <a:spcPts val="400"/>
              </a:spcBef>
              <a:defRPr sz="600" b="0">
                <a:solidFill>
                  <a:srgbClr val="FFFFFF"/>
                </a:solidFill>
              </a:defRPr>
            </a:pPr>
          </a:p>
          <a:p>
            <a:pPr algn="ctr">
              <a:spcBef>
                <a:spcPts val="400"/>
              </a:spcBef>
              <a:defRPr sz="1100" b="0">
                <a:solidFill>
                  <a:srgbClr val="BDC3C7"/>
                </a:solidFill>
              </a:defRPr>
            </a:pPr>
            <a:r>
              <a:t>8-table structured</a:t>
            </a:r>
            <a:br/>
            <a:r>
              <a:t>data store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84080" y="1645920"/>
            <a:ext cx="2103120" cy="201168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MinIO</a:t>
            </a:r>
          </a:p>
          <a:p>
            <a:pPr algn="l">
              <a:spcBef>
                <a:spcPts val="400"/>
              </a:spcBef>
              <a:defRPr sz="600" b="0">
                <a:solidFill>
                  <a:srgbClr val="FFFFFF"/>
                </a:solidFill>
              </a:defRPr>
            </a:pPr>
          </a:p>
          <a:p>
            <a:pPr algn="ctr">
              <a:spcBef>
                <a:spcPts val="400"/>
              </a:spcBef>
              <a:defRPr sz="1100" b="0">
                <a:solidFill>
                  <a:srgbClr val="BDC3C7"/>
                </a:solidFill>
              </a:defRPr>
            </a:pPr>
            <a:r>
              <a:t>3-layer data lake</a:t>
            </a:r>
            <a:br/>
            <a:r>
              <a:t>raw / proc / curated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3931920"/>
            <a:ext cx="11612880" cy="502920"/>
          </a:xfrm>
          <a:prstGeom prst="roundRect">
            <a:avLst/>
          </a:prstGeom>
          <a:solidFill>
            <a:srgbClr val="222236"/>
          </a:solidFill>
          <a:ln w="19050">
            <a:solidFill>
              <a:srgbClr val="AAAA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DC3C7"/>
                </a:solidFill>
              </a:defRPr>
            </a:pPr>
            <a:r>
              <a:t>Docker Compose  —  runs with one command  —  same images deploy to Huawei Cloud 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754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Local (Docker)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754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F0A2C"/>
                </a:solidFill>
              </a:defRPr>
            </a:pPr>
            <a:r>
              <a:t>Huawei Cloud 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212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C3C7"/>
                </a:solidFill>
              </a:defRPr>
            </a:pPr>
            <a:r>
              <a:t>Docker containers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5212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7E22"/>
                </a:solidFill>
              </a:defRPr>
            </a:pPr>
            <a:r>
              <a:t>→  ECS / CCE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623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C3C7"/>
                </a:solidFill>
              </a:defRPr>
            </a:pPr>
            <a:r>
              <a:t>MinIO (object storage)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5623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7E22"/>
                </a:solidFill>
              </a:defRPr>
            </a:pPr>
            <a:r>
              <a:t>→  OBS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035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C3C7"/>
                </a:solidFill>
              </a:defRPr>
            </a:pPr>
            <a:r>
              <a:t>PostgreSQL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6035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7E22"/>
                </a:solidFill>
              </a:defRPr>
            </a:pPr>
            <a:r>
              <a:t>→  RDS (managed)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Data: Real Operator, Real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</a:defRPr>
            </a:pPr>
            <a:r>
              <a:t>Working with real anonymised data from Tunisie Telecom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19072"/>
            <a:ext cx="137160" cy="137160"/>
          </a:xfrm>
          <a:prstGeom prst="round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Real production data from Tunisie Telecom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59152"/>
            <a:ext cx="137160" cy="137160"/>
          </a:xfrm>
          <a:prstGeom prst="round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Network data: cell KPIs across regions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99232"/>
            <a:ext cx="137160" cy="137160"/>
          </a:xfrm>
          <a:prstGeom prst="round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926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Business data: subscriber revenue &amp; usage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639311"/>
            <a:ext cx="137160" cy="137160"/>
          </a:xfrm>
          <a:prstGeom prst="round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56615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Anonymised: hashed IDs, no PII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79392"/>
            <a:ext cx="137160" cy="137160"/>
          </a:xfrm>
          <a:prstGeom prst="round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206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Dual-mode: real (default) + synthetic (fallback)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719072"/>
            <a:ext cx="137160" cy="13716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8-table PostgreSQL schema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359152"/>
            <a:ext cx="137160" cy="13716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2286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Full pipeline traceability (run_id)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999232"/>
            <a:ext cx="137160" cy="13716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2926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3-layer data lake in MinIO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639311"/>
            <a:ext cx="137160" cy="13716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356615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Gouvernorat-level location only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279392"/>
            <a:ext cx="137160" cy="13716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4206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Prepaid-dominant market (~80%)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00400" y="5303520"/>
            <a:ext cx="5486400" cy="640080"/>
          </a:xfrm>
          <a:prstGeom prst="roundRect">
            <a:avLst/>
          </a:prstGeom>
          <a:solidFill>
            <a:srgbClr val="8E44AD"/>
          </a:solidFill>
          <a:ln w="190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ADN Level 4: AI decides and acts — humans handle edge cases only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What Makes Us Different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</a:defRPr>
            </a:pPr>
            <a:r>
              <a:t>Competitive positioning against existing solutions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2926080" cy="45720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Solution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84448" y="1554480"/>
            <a:ext cx="1828800" cy="45720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Real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22976" y="1554480"/>
            <a:ext cx="1828800" cy="45720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O+B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61504" y="1554480"/>
            <a:ext cx="1828800" cy="45720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Cloud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00032" y="1554480"/>
            <a:ext cx="2286000" cy="45720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103120"/>
            <a:ext cx="2926080" cy="457200"/>
          </a:xfrm>
          <a:prstGeom prst="roundRect">
            <a:avLst/>
          </a:prstGeom>
          <a:solidFill>
            <a:srgbClr val="22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SELFNET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84448" y="2103120"/>
            <a:ext cx="1828800" cy="457200"/>
          </a:xfrm>
          <a:prstGeom prst="roundRect">
            <a:avLst/>
          </a:prstGeom>
          <a:solidFill>
            <a:srgbClr val="22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E74C3C"/>
                </a:solidFill>
              </a:defRPr>
            </a:pPr>
            <a:r>
              <a:t>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22976" y="2103120"/>
            <a:ext cx="1828800" cy="457200"/>
          </a:xfrm>
          <a:prstGeom prst="roundRect">
            <a:avLst/>
          </a:prstGeom>
          <a:solidFill>
            <a:srgbClr val="22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E74C3C"/>
                </a:solidFill>
              </a:defRPr>
            </a:pPr>
            <a:r>
              <a:t>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2103120"/>
            <a:ext cx="1828800" cy="457200"/>
          </a:xfrm>
          <a:prstGeom prst="roundRect">
            <a:avLst/>
          </a:prstGeom>
          <a:solidFill>
            <a:srgbClr val="22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ECC71"/>
                </a:solidFill>
              </a:defRPr>
            </a:pPr>
            <a:r>
              <a:t>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00032" y="2103120"/>
            <a:ext cx="2286000" cy="457200"/>
          </a:xfrm>
          <a:prstGeom prst="roundRect">
            <a:avLst/>
          </a:prstGeom>
          <a:solidFill>
            <a:srgbClr val="22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E74C3C"/>
                </a:solidFill>
              </a:defRPr>
            </a:pPr>
            <a:r>
              <a:t>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651760"/>
            <a:ext cx="2926080" cy="457200"/>
          </a:xfrm>
          <a:prstGeom prst="roundRect">
            <a:avLst/>
          </a:prstGeom>
          <a:solidFill>
            <a:srgbClr val="28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ETSI ZSM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84448" y="2651760"/>
            <a:ext cx="1828800" cy="457200"/>
          </a:xfrm>
          <a:prstGeom prst="roundRect">
            <a:avLst/>
          </a:prstGeom>
          <a:solidFill>
            <a:srgbClr val="28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E74C3C"/>
                </a:solidFill>
              </a:defRPr>
            </a:pPr>
            <a:r>
              <a:t>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22976" y="2651760"/>
            <a:ext cx="1828800" cy="457200"/>
          </a:xfrm>
          <a:prstGeom prst="roundRect">
            <a:avLst/>
          </a:prstGeom>
          <a:solidFill>
            <a:srgbClr val="28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E67E22"/>
                </a:solidFill>
              </a:defRPr>
            </a:pPr>
            <a:r>
              <a:t>Partial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61504" y="2651760"/>
            <a:ext cx="1828800" cy="457200"/>
          </a:xfrm>
          <a:prstGeom prst="roundRect">
            <a:avLst/>
          </a:prstGeom>
          <a:solidFill>
            <a:srgbClr val="28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ECC71"/>
                </a:solidFill>
              </a:defRPr>
            </a:pPr>
            <a:r>
              <a:t>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00032" y="2651760"/>
            <a:ext cx="2286000" cy="457200"/>
          </a:xfrm>
          <a:prstGeom prst="roundRect">
            <a:avLst/>
          </a:prstGeom>
          <a:solidFill>
            <a:srgbClr val="28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E67E22"/>
                </a:solidFill>
              </a:defRPr>
            </a:pPr>
            <a:r>
              <a:t>Spec only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200400"/>
            <a:ext cx="2926080" cy="457200"/>
          </a:xfrm>
          <a:prstGeom prst="roundRect">
            <a:avLst/>
          </a:prstGeom>
          <a:solidFill>
            <a:srgbClr val="22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Nokia AVA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84448" y="3200400"/>
            <a:ext cx="1828800" cy="457200"/>
          </a:xfrm>
          <a:prstGeom prst="roundRect">
            <a:avLst/>
          </a:prstGeom>
          <a:solidFill>
            <a:srgbClr val="22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ECC71"/>
                </a:solidFill>
              </a:defRPr>
            </a:pPr>
            <a:r>
              <a:t>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22976" y="3200400"/>
            <a:ext cx="1828800" cy="457200"/>
          </a:xfrm>
          <a:prstGeom prst="roundRect">
            <a:avLst/>
          </a:prstGeom>
          <a:solidFill>
            <a:srgbClr val="22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E74C3C"/>
                </a:solidFill>
              </a:defRPr>
            </a:pPr>
            <a:r>
              <a:t>✗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61504" y="3200400"/>
            <a:ext cx="1828800" cy="457200"/>
          </a:xfrm>
          <a:prstGeom prst="roundRect">
            <a:avLst/>
          </a:prstGeom>
          <a:solidFill>
            <a:srgbClr val="22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ECC71"/>
                </a:solidFill>
              </a:defRPr>
            </a:pPr>
            <a:r>
              <a:t>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00032" y="3200400"/>
            <a:ext cx="2286000" cy="457200"/>
          </a:xfrm>
          <a:prstGeom prst="roundRect">
            <a:avLst/>
          </a:prstGeom>
          <a:solidFill>
            <a:srgbClr val="22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E74C3C"/>
                </a:solidFill>
              </a:defRPr>
            </a:pPr>
            <a:r>
              <a:t>✗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749039"/>
            <a:ext cx="2926080" cy="457200"/>
          </a:xfrm>
          <a:prstGeom prst="roundRect">
            <a:avLst/>
          </a:prstGeom>
          <a:solidFill>
            <a:srgbClr val="28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SmartCare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84448" y="3749039"/>
            <a:ext cx="1828800" cy="457200"/>
          </a:xfrm>
          <a:prstGeom prst="roundRect">
            <a:avLst/>
          </a:prstGeom>
          <a:solidFill>
            <a:srgbClr val="28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ECC71"/>
                </a:solidFill>
              </a:defRPr>
            </a:pPr>
            <a:r>
              <a:t>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522976" y="3749039"/>
            <a:ext cx="1828800" cy="457200"/>
          </a:xfrm>
          <a:prstGeom prst="roundRect">
            <a:avLst/>
          </a:prstGeom>
          <a:solidFill>
            <a:srgbClr val="28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E67E22"/>
                </a:solidFill>
              </a:defRPr>
            </a:pPr>
            <a:r>
              <a:t>Partial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61504" y="3749039"/>
            <a:ext cx="1828800" cy="457200"/>
          </a:xfrm>
          <a:prstGeom prst="roundRect">
            <a:avLst/>
          </a:prstGeom>
          <a:solidFill>
            <a:srgbClr val="28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ECC71"/>
                </a:solidFill>
              </a:defRPr>
            </a:pPr>
            <a:r>
              <a:t>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00032" y="3749039"/>
            <a:ext cx="2286000" cy="457200"/>
          </a:xfrm>
          <a:prstGeom prst="roundRect">
            <a:avLst/>
          </a:prstGeom>
          <a:solidFill>
            <a:srgbClr val="28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E74C3C"/>
                </a:solidFill>
              </a:defRPr>
            </a:pPr>
            <a:r>
              <a:t>✗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297680"/>
            <a:ext cx="2926080" cy="45720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OUR PROJECT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584448" y="4297680"/>
            <a:ext cx="1828800" cy="45720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522976" y="4297680"/>
            <a:ext cx="1828800" cy="45720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61504" y="4297680"/>
            <a:ext cx="1828800" cy="45720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00032" y="4297680"/>
            <a:ext cx="2286000" cy="45720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212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We are the only solution combining: Real Data + O+B Convergence + Cloud-Native + Autonomous Actions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Outputs &amp; Deliverables So Far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</a:defRPr>
            </a:pPr>
            <a:r>
              <a:t>What we have built and delivered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486400" cy="1005840"/>
          </a:xfrm>
          <a:prstGeom prst="roundRect">
            <a:avLst/>
          </a:prstGeom>
          <a:solidFill>
            <a:srgbClr val="222236"/>
          </a:solidFill>
          <a:ln w="1905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1">
                <a:solidFill>
                  <a:srgbClr val="1ABC9C"/>
                </a:solidFill>
              </a:defRPr>
            </a:pPr>
            <a:r>
              <a:t>Working Docker Stack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BDC3C7"/>
                </a:solidFill>
              </a:defRPr>
            </a:pPr>
            <a:r>
              <a:t>5 services, runs with one command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54480"/>
            <a:ext cx="5486400" cy="1005840"/>
          </a:xfrm>
          <a:prstGeom prst="roundRect">
            <a:avLst/>
          </a:prstGeom>
          <a:solidFill>
            <a:srgbClr val="222236"/>
          </a:solidFill>
          <a:ln w="190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1">
                <a:solidFill>
                  <a:srgbClr val="8E44AD"/>
                </a:solidFill>
              </a:defRPr>
            </a:pPr>
            <a:r>
              <a:t>3 Trained ML Models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BDC3C7"/>
                </a:solidFill>
              </a:defRPr>
            </a:pPr>
            <a:r>
              <a:t>GBR + 2x IsolationForest on real TT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43200"/>
            <a:ext cx="5486400" cy="1005840"/>
          </a:xfrm>
          <a:prstGeom prst="roundRect">
            <a:avLst/>
          </a:prstGeom>
          <a:solidFill>
            <a:srgbClr val="222236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1">
                <a:solidFill>
                  <a:srgbClr val="E74C3C"/>
                </a:solidFill>
              </a:defRPr>
            </a:pPr>
            <a:r>
              <a:t>Decision &amp; Action Engine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BDC3C7"/>
                </a:solidFill>
              </a:defRPr>
            </a:pPr>
            <a:r>
              <a:t>Typed recommendations with priority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743200"/>
            <a:ext cx="5486400" cy="1005840"/>
          </a:xfrm>
          <a:prstGeom prst="roundRect">
            <a:avLst/>
          </a:prstGeom>
          <a:solidFill>
            <a:srgbClr val="222236"/>
          </a:solidFill>
          <a:ln w="190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1">
                <a:solidFill>
                  <a:srgbClr val="3498DB"/>
                </a:solidFill>
              </a:defRPr>
            </a:pPr>
            <a:r>
              <a:t>3-Layer Data Lake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BDC3C7"/>
                </a:solidFill>
              </a:defRPr>
            </a:pPr>
            <a:r>
              <a:t>Raw, processed, curated in MinIO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931920"/>
            <a:ext cx="5486400" cy="1005840"/>
          </a:xfrm>
          <a:prstGeom prst="roundRect">
            <a:avLst/>
          </a:prstGeom>
          <a:solidFill>
            <a:srgbClr val="222236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1">
                <a:solidFill>
                  <a:srgbClr val="2E86AB"/>
                </a:solidFill>
              </a:defRPr>
            </a:pPr>
            <a:r>
              <a:t>REST API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BDC3C7"/>
                </a:solidFill>
              </a:defRPr>
            </a:pPr>
            <a:r>
              <a:t>Consume results + manage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931920"/>
            <a:ext cx="5486400" cy="1005840"/>
          </a:xfrm>
          <a:prstGeom prst="roundRect">
            <a:avLst/>
          </a:prstGeom>
          <a:solidFill>
            <a:srgbClr val="222236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1">
                <a:solidFill>
                  <a:srgbClr val="2ECC71"/>
                </a:solidFill>
              </a:defRPr>
            </a:pPr>
            <a:r>
              <a:t>8-Table PostgreSQL Schema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BDC3C7"/>
                </a:solidFill>
              </a:defRPr>
            </a:pPr>
            <a:r>
              <a:t>Full pipeline lineage via run_id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120640"/>
            <a:ext cx="5486400" cy="1005840"/>
          </a:xfrm>
          <a:prstGeom prst="roundRect">
            <a:avLst/>
          </a:prstGeom>
          <a:solidFill>
            <a:srgbClr val="222236"/>
          </a:solidFill>
          <a:ln w="19050">
            <a:solidFill>
              <a:srgbClr val="CF0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1">
                <a:solidFill>
                  <a:srgbClr val="CF0A2C"/>
                </a:solidFill>
              </a:defRPr>
            </a:pPr>
            <a:r>
              <a:t>HCS Architecture Design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BDC3C7"/>
                </a:solidFill>
              </a:defRPr>
            </a:pPr>
            <a:r>
              <a:t>Ready for Huawei Cloud deployment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5120640"/>
            <a:ext cx="5486400" cy="1005840"/>
          </a:xfrm>
          <a:prstGeom prst="roundRect">
            <a:avLst/>
          </a:prstGeom>
          <a:solidFill>
            <a:srgbClr val="222236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1">
                <a:solidFill>
                  <a:srgbClr val="E67E22"/>
                </a:solidFill>
              </a:defRPr>
            </a:pPr>
            <a:r>
              <a:t>Technical Documentation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BDC3C7"/>
                </a:solidFill>
              </a:defRPr>
            </a:pPr>
            <a:r>
              <a:t>Report + architecture docs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Next Steps &amp;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</a:defRPr>
            </a:pPr>
            <a:r>
              <a:t>Roadmap and open discussion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828800" cy="640080"/>
          </a:xfrm>
          <a:prstGeom prst="round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Immediate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166420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Finalise action engine rules with Huawei team feedback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23160"/>
            <a:ext cx="1828800" cy="64008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Short-term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253288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Deploy to Huawei Cloud Stack (HCS) environment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91840"/>
            <a:ext cx="1828800" cy="64008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Medium-term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340156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Real-time streaming + advanced ML (LSTM, transformers)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60519"/>
            <a:ext cx="1828800" cy="640080"/>
          </a:xfrm>
          <a:prstGeom prst="round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Long-term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4270247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Reinforcement learning for action optimisation → ADN L5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5029200"/>
            <a:ext cx="8229600" cy="254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Thank you — Souhayl Guenichi | ESPRIT × Huawei Tunisia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852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BB"/>
                </a:solidFill>
              </a:defRPr>
            </a:pPr>
            <a:r>
              <a:t>An autonomous agent that detects, decides, and acts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