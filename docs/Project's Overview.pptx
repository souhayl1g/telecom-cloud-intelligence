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49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86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5029200" cy="5029200"/>
          </a:xfrm>
          <a:prstGeom prst="ellipse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645920" y="1097280"/>
            <a:ext cx="4114800" cy="4114800"/>
          </a:xfrm>
          <a:prstGeom prst="ellipse">
            <a:avLst/>
          </a:prstGeom>
          <a:solidFill>
            <a:srgbClr val="CF0A2C">
              <a:alpha val="10000"/>
            </a:srgbClr>
          </a:solidFill>
          <a:ln w="12700">
            <a:solidFill>
              <a:srgbClr val="CF0A2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"/>
            <a:ext cx="2560320" cy="274320"/>
          </a:xfrm>
          <a:prstGeom prst="rect">
            <a:avLst/>
          </a:prstGeom>
          <a:solidFill>
            <a:srgbClr val="1E25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Operations Agent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CEM–CVM Intelligence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9436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Detects, Decides, and Acts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371600" cy="475488"/>
          </a:xfrm>
          <a:prstGeom prst="rect">
            <a:avLst/>
          </a:prstGeom>
          <a:solidFill>
            <a:srgbClr val="8E44A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92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3154680"/>
            <a:ext cx="1828800" cy="475488"/>
          </a:xfrm>
          <a:prstGeom prst="rect">
            <a:avLst/>
          </a:prstGeom>
          <a:solidFill>
            <a:srgbClr val="1E253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154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HCS-Ready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3154680"/>
            <a:ext cx="2194560" cy="475488"/>
          </a:xfrm>
          <a:prstGeom prst="rect">
            <a:avLst/>
          </a:prstGeom>
          <a:solidFill>
            <a:srgbClr val="1E253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1546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 Telecom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965960" cy="65836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Souhayl Guenichi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3977640"/>
            <a:ext cx="1965960" cy="65836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9748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4224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1965960" cy="65836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4224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Tunisia – Cloud Team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3977640"/>
            <a:ext cx="1965960" cy="65836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95160" y="4224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Two Data Worlds That Never Talk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3108960" cy="278891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10896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— Network Layer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07008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" y="1783080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7830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Latency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2185416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18541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 · RSRP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587752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5877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Alarms &amp; Outages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2990088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9900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Counters (15-min)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47872" y="1417320"/>
            <a:ext cx="2048256" cy="2011680"/>
          </a:xfrm>
          <a:prstGeom prst="rect">
            <a:avLst/>
          </a:prstGeom>
          <a:solidFill>
            <a:srgbClr val="CF0A2C">
              <a:alpha val="85000"/>
            </a:srgbClr>
          </a:solidFill>
          <a:ln w="31750">
            <a:solidFill>
              <a:srgbClr val="CF0A2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47872" y="1627632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3547872" y="224028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304288"/>
            <a:ext cx="347472" cy="347472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856" y="2304288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715000" y="804672"/>
            <a:ext cx="3108960" cy="278891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15000" y="804672"/>
            <a:ext cx="310896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715000" y="804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— Business Layer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207008"/>
            <a:ext cx="457200" cy="457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870448" y="1783080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961888" y="17830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ARPU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870448" y="2185416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961888" y="218541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History · DOU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870448" y="2587752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961888" y="258775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Profiles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870448" y="2990088"/>
            <a:ext cx="2798064" cy="329184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61888" y="29900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Complaints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0040" y="4160520"/>
            <a:ext cx="8503920" cy="804672"/>
          </a:xfrm>
          <a:prstGeom prst="rect">
            <a:avLst/>
          </a:prstGeom>
          <a:solidFill>
            <a:srgbClr val="0A0D14"/>
          </a:solidFill>
          <a:ln w="19050">
            <a:solidFill>
              <a:srgbClr val="CF0A2C"/>
            </a:solidFill>
            <a:prstDash val="dash"/>
          </a:ln>
        </p:spPr>
      </p:sp>
      <p:sp>
        <p:nvSpPr>
          <p:cNvPr id="35" name="Shape 29"/>
          <p:cNvSpPr/>
          <p:nvPr/>
        </p:nvSpPr>
        <p:spPr>
          <a:xfrm>
            <a:off x="320040" y="4160520"/>
            <a:ext cx="109728" cy="10972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714232" y="4160520"/>
            <a:ext cx="109728" cy="10972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20040" y="4855464"/>
            <a:ext cx="109728" cy="10972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714232" y="4855464"/>
            <a:ext cx="109728" cy="10972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7200" y="43616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 #10 — Gap Analysis ]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320040" y="4160520"/>
            <a:ext cx="8503920" cy="0"/>
          </a:xfrm>
          <a:prstGeom prst="rect">
            <a:avLst/>
          </a:prstGeom>
          <a:noFill/>
          <a:ln/>
        </p:spPr>
      </p:sp>
      <p:sp>
        <p:nvSpPr>
          <p:cNvPr id="41" name="Shape 35"/>
          <p:cNvSpPr/>
          <p:nvPr/>
        </p:nvSpPr>
        <p:spPr>
          <a:xfrm>
            <a:off x="320040" y="4169664"/>
            <a:ext cx="8503920" cy="0"/>
          </a:xfrm>
          <a:prstGeom prst="rect">
            <a:avLst/>
          </a:prstGeom>
          <a:noFill/>
          <a:ln/>
        </p:spPr>
      </p:sp>
      <p:sp>
        <p:nvSpPr>
          <p:cNvPr id="42" name="Shape 36"/>
          <p:cNvSpPr/>
          <p:nvPr/>
        </p:nvSpPr>
        <p:spPr>
          <a:xfrm>
            <a:off x="320040" y="3977640"/>
            <a:ext cx="8503920" cy="0"/>
          </a:xfrm>
          <a:prstGeom prst="rect">
            <a:avLst/>
          </a:prstGeom>
          <a:noFill/>
          <a:ln/>
        </p:spPr>
      </p:sp>
      <p:pic>
        <p:nvPicPr>
          <p:cNvPr id="44" name="Picture 43" descr="&#10;A diagram of a computer network">
            <a:extLst>
              <a:ext uri="{FF2B5EF4-FFF2-40B4-BE49-F238E27FC236}">
                <a16:creationId xmlns:a16="http://schemas.microsoft.com/office/drawing/2014/main" id="{E5944750-5A7D-3519-DC55-AB1BD20E2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50396"/>
            <a:ext cx="8503920" cy="1422583"/>
          </a:xfrm>
          <a:custGeom>
            <a:avLst/>
            <a:gdLst>
              <a:gd name="connsiteX0" fmla="*/ 0 w 8503920"/>
              <a:gd name="connsiteY0" fmla="*/ 0 h 1422583"/>
              <a:gd name="connsiteX1" fmla="*/ 654148 w 8503920"/>
              <a:gd name="connsiteY1" fmla="*/ 0 h 1422583"/>
              <a:gd name="connsiteX2" fmla="*/ 1393335 w 8503920"/>
              <a:gd name="connsiteY2" fmla="*/ 0 h 1422583"/>
              <a:gd name="connsiteX3" fmla="*/ 1877404 w 8503920"/>
              <a:gd name="connsiteY3" fmla="*/ 0 h 1422583"/>
              <a:gd name="connsiteX4" fmla="*/ 2446512 w 8503920"/>
              <a:gd name="connsiteY4" fmla="*/ 0 h 1422583"/>
              <a:gd name="connsiteX5" fmla="*/ 3270738 w 8503920"/>
              <a:gd name="connsiteY5" fmla="*/ 0 h 1422583"/>
              <a:gd name="connsiteX6" fmla="*/ 3924886 w 8503920"/>
              <a:gd name="connsiteY6" fmla="*/ 0 h 1422583"/>
              <a:gd name="connsiteX7" fmla="*/ 4579034 w 8503920"/>
              <a:gd name="connsiteY7" fmla="*/ 0 h 1422583"/>
              <a:gd name="connsiteX8" fmla="*/ 5318221 w 8503920"/>
              <a:gd name="connsiteY8" fmla="*/ 0 h 1422583"/>
              <a:gd name="connsiteX9" fmla="*/ 5887329 w 8503920"/>
              <a:gd name="connsiteY9" fmla="*/ 0 h 1422583"/>
              <a:gd name="connsiteX10" fmla="*/ 6711555 w 8503920"/>
              <a:gd name="connsiteY10" fmla="*/ 0 h 1422583"/>
              <a:gd name="connsiteX11" fmla="*/ 7450742 w 8503920"/>
              <a:gd name="connsiteY11" fmla="*/ 0 h 1422583"/>
              <a:gd name="connsiteX12" fmla="*/ 7849772 w 8503920"/>
              <a:gd name="connsiteY12" fmla="*/ 0 h 1422583"/>
              <a:gd name="connsiteX13" fmla="*/ 8503920 w 8503920"/>
              <a:gd name="connsiteY13" fmla="*/ 0 h 1422583"/>
              <a:gd name="connsiteX14" fmla="*/ 8503920 w 8503920"/>
              <a:gd name="connsiteY14" fmla="*/ 459969 h 1422583"/>
              <a:gd name="connsiteX15" fmla="*/ 8503920 w 8503920"/>
              <a:gd name="connsiteY15" fmla="*/ 934163 h 1422583"/>
              <a:gd name="connsiteX16" fmla="*/ 8503920 w 8503920"/>
              <a:gd name="connsiteY16" fmla="*/ 1422583 h 1422583"/>
              <a:gd name="connsiteX17" fmla="*/ 7764733 w 8503920"/>
              <a:gd name="connsiteY17" fmla="*/ 1422583 h 1422583"/>
              <a:gd name="connsiteX18" fmla="*/ 7365703 w 8503920"/>
              <a:gd name="connsiteY18" fmla="*/ 1422583 h 1422583"/>
              <a:gd name="connsiteX19" fmla="*/ 6881634 w 8503920"/>
              <a:gd name="connsiteY19" fmla="*/ 1422583 h 1422583"/>
              <a:gd name="connsiteX20" fmla="*/ 6482604 w 8503920"/>
              <a:gd name="connsiteY20" fmla="*/ 1422583 h 1422583"/>
              <a:gd name="connsiteX21" fmla="*/ 5743417 w 8503920"/>
              <a:gd name="connsiteY21" fmla="*/ 1422583 h 1422583"/>
              <a:gd name="connsiteX22" fmla="*/ 4919191 w 8503920"/>
              <a:gd name="connsiteY22" fmla="*/ 1422583 h 1422583"/>
              <a:gd name="connsiteX23" fmla="*/ 4520161 w 8503920"/>
              <a:gd name="connsiteY23" fmla="*/ 1422583 h 1422583"/>
              <a:gd name="connsiteX24" fmla="*/ 3780974 w 8503920"/>
              <a:gd name="connsiteY24" fmla="*/ 1422583 h 1422583"/>
              <a:gd name="connsiteX25" fmla="*/ 3126826 w 8503920"/>
              <a:gd name="connsiteY25" fmla="*/ 1422583 h 1422583"/>
              <a:gd name="connsiteX26" fmla="*/ 2472678 w 8503920"/>
              <a:gd name="connsiteY26" fmla="*/ 1422583 h 1422583"/>
              <a:gd name="connsiteX27" fmla="*/ 1903570 w 8503920"/>
              <a:gd name="connsiteY27" fmla="*/ 1422583 h 1422583"/>
              <a:gd name="connsiteX28" fmla="*/ 1504540 w 8503920"/>
              <a:gd name="connsiteY28" fmla="*/ 1422583 h 1422583"/>
              <a:gd name="connsiteX29" fmla="*/ 680314 w 8503920"/>
              <a:gd name="connsiteY29" fmla="*/ 1422583 h 1422583"/>
              <a:gd name="connsiteX30" fmla="*/ 0 w 8503920"/>
              <a:gd name="connsiteY30" fmla="*/ 1422583 h 1422583"/>
              <a:gd name="connsiteX31" fmla="*/ 0 w 8503920"/>
              <a:gd name="connsiteY31" fmla="*/ 948389 h 1422583"/>
              <a:gd name="connsiteX32" fmla="*/ 0 w 8503920"/>
              <a:gd name="connsiteY32" fmla="*/ 445743 h 1422583"/>
              <a:gd name="connsiteX33" fmla="*/ 0 w 8503920"/>
              <a:gd name="connsiteY33" fmla="*/ 0 h 142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503920" h="1422583" fill="none" extrusionOk="0">
                <a:moveTo>
                  <a:pt x="0" y="0"/>
                </a:moveTo>
                <a:cubicBezTo>
                  <a:pt x="174059" y="9837"/>
                  <a:pt x="502701" y="-19903"/>
                  <a:pt x="654148" y="0"/>
                </a:cubicBezTo>
                <a:cubicBezTo>
                  <a:pt x="805595" y="19903"/>
                  <a:pt x="1211344" y="-9259"/>
                  <a:pt x="1393335" y="0"/>
                </a:cubicBezTo>
                <a:cubicBezTo>
                  <a:pt x="1575326" y="9259"/>
                  <a:pt x="1684306" y="-2143"/>
                  <a:pt x="1877404" y="0"/>
                </a:cubicBezTo>
                <a:cubicBezTo>
                  <a:pt x="2070502" y="2143"/>
                  <a:pt x="2285608" y="2968"/>
                  <a:pt x="2446512" y="0"/>
                </a:cubicBezTo>
                <a:cubicBezTo>
                  <a:pt x="2607416" y="-2968"/>
                  <a:pt x="3055225" y="-31673"/>
                  <a:pt x="3270738" y="0"/>
                </a:cubicBezTo>
                <a:cubicBezTo>
                  <a:pt x="3486251" y="31673"/>
                  <a:pt x="3722552" y="-20657"/>
                  <a:pt x="3924886" y="0"/>
                </a:cubicBezTo>
                <a:cubicBezTo>
                  <a:pt x="4127220" y="20657"/>
                  <a:pt x="4445626" y="2494"/>
                  <a:pt x="4579034" y="0"/>
                </a:cubicBezTo>
                <a:cubicBezTo>
                  <a:pt x="4712442" y="-2494"/>
                  <a:pt x="5073765" y="14846"/>
                  <a:pt x="5318221" y="0"/>
                </a:cubicBezTo>
                <a:cubicBezTo>
                  <a:pt x="5562677" y="-14846"/>
                  <a:pt x="5753766" y="-10394"/>
                  <a:pt x="5887329" y="0"/>
                </a:cubicBezTo>
                <a:cubicBezTo>
                  <a:pt x="6020892" y="10394"/>
                  <a:pt x="6417615" y="9550"/>
                  <a:pt x="6711555" y="0"/>
                </a:cubicBezTo>
                <a:cubicBezTo>
                  <a:pt x="7005495" y="-9550"/>
                  <a:pt x="7294285" y="1670"/>
                  <a:pt x="7450742" y="0"/>
                </a:cubicBezTo>
                <a:cubicBezTo>
                  <a:pt x="7607199" y="-1670"/>
                  <a:pt x="7687554" y="13791"/>
                  <a:pt x="7849772" y="0"/>
                </a:cubicBezTo>
                <a:cubicBezTo>
                  <a:pt x="8011990" y="-13791"/>
                  <a:pt x="8245362" y="15700"/>
                  <a:pt x="8503920" y="0"/>
                </a:cubicBezTo>
                <a:cubicBezTo>
                  <a:pt x="8487029" y="102567"/>
                  <a:pt x="8511239" y="350927"/>
                  <a:pt x="8503920" y="459969"/>
                </a:cubicBezTo>
                <a:cubicBezTo>
                  <a:pt x="8496601" y="569011"/>
                  <a:pt x="8503140" y="756998"/>
                  <a:pt x="8503920" y="934163"/>
                </a:cubicBezTo>
                <a:cubicBezTo>
                  <a:pt x="8504700" y="1111328"/>
                  <a:pt x="8495682" y="1294001"/>
                  <a:pt x="8503920" y="1422583"/>
                </a:cubicBezTo>
                <a:cubicBezTo>
                  <a:pt x="8294869" y="1402701"/>
                  <a:pt x="7944429" y="1392357"/>
                  <a:pt x="7764733" y="1422583"/>
                </a:cubicBezTo>
                <a:cubicBezTo>
                  <a:pt x="7585037" y="1452809"/>
                  <a:pt x="7449177" y="1404521"/>
                  <a:pt x="7365703" y="1422583"/>
                </a:cubicBezTo>
                <a:cubicBezTo>
                  <a:pt x="7282229" y="1440646"/>
                  <a:pt x="6994128" y="1438575"/>
                  <a:pt x="6881634" y="1422583"/>
                </a:cubicBezTo>
                <a:cubicBezTo>
                  <a:pt x="6769140" y="1406591"/>
                  <a:pt x="6581179" y="1409579"/>
                  <a:pt x="6482604" y="1422583"/>
                </a:cubicBezTo>
                <a:cubicBezTo>
                  <a:pt x="6384029" y="1435588"/>
                  <a:pt x="5900684" y="1445527"/>
                  <a:pt x="5743417" y="1422583"/>
                </a:cubicBezTo>
                <a:cubicBezTo>
                  <a:pt x="5586150" y="1399639"/>
                  <a:pt x="5087316" y="1419578"/>
                  <a:pt x="4919191" y="1422583"/>
                </a:cubicBezTo>
                <a:cubicBezTo>
                  <a:pt x="4751066" y="1425588"/>
                  <a:pt x="4712549" y="1404997"/>
                  <a:pt x="4520161" y="1422583"/>
                </a:cubicBezTo>
                <a:cubicBezTo>
                  <a:pt x="4327773" y="1440170"/>
                  <a:pt x="4142288" y="1395432"/>
                  <a:pt x="3780974" y="1422583"/>
                </a:cubicBezTo>
                <a:cubicBezTo>
                  <a:pt x="3419660" y="1449734"/>
                  <a:pt x="3429502" y="1424678"/>
                  <a:pt x="3126826" y="1422583"/>
                </a:cubicBezTo>
                <a:cubicBezTo>
                  <a:pt x="2824150" y="1420488"/>
                  <a:pt x="2653265" y="1426749"/>
                  <a:pt x="2472678" y="1422583"/>
                </a:cubicBezTo>
                <a:cubicBezTo>
                  <a:pt x="2292091" y="1418417"/>
                  <a:pt x="2125551" y="1398245"/>
                  <a:pt x="1903570" y="1422583"/>
                </a:cubicBezTo>
                <a:cubicBezTo>
                  <a:pt x="1681589" y="1446921"/>
                  <a:pt x="1683353" y="1435681"/>
                  <a:pt x="1504540" y="1422583"/>
                </a:cubicBezTo>
                <a:cubicBezTo>
                  <a:pt x="1325727" y="1409486"/>
                  <a:pt x="851274" y="1446374"/>
                  <a:pt x="680314" y="1422583"/>
                </a:cubicBezTo>
                <a:cubicBezTo>
                  <a:pt x="509354" y="1398792"/>
                  <a:pt x="160226" y="1401304"/>
                  <a:pt x="0" y="1422583"/>
                </a:cubicBezTo>
                <a:cubicBezTo>
                  <a:pt x="5293" y="1237136"/>
                  <a:pt x="10979" y="1072981"/>
                  <a:pt x="0" y="948389"/>
                </a:cubicBezTo>
                <a:cubicBezTo>
                  <a:pt x="-10979" y="823797"/>
                  <a:pt x="17549" y="613448"/>
                  <a:pt x="0" y="445743"/>
                </a:cubicBezTo>
                <a:cubicBezTo>
                  <a:pt x="-17549" y="278038"/>
                  <a:pt x="12918" y="188734"/>
                  <a:pt x="0" y="0"/>
                </a:cubicBezTo>
                <a:close/>
              </a:path>
              <a:path w="8503920" h="1422583" stroke="0" extrusionOk="0">
                <a:moveTo>
                  <a:pt x="0" y="0"/>
                </a:moveTo>
                <a:cubicBezTo>
                  <a:pt x="196281" y="13407"/>
                  <a:pt x="348085" y="4956"/>
                  <a:pt x="484069" y="0"/>
                </a:cubicBezTo>
                <a:cubicBezTo>
                  <a:pt x="620053" y="-4956"/>
                  <a:pt x="793465" y="-18233"/>
                  <a:pt x="1053178" y="0"/>
                </a:cubicBezTo>
                <a:cubicBezTo>
                  <a:pt x="1312891" y="18233"/>
                  <a:pt x="1614246" y="-22615"/>
                  <a:pt x="1877404" y="0"/>
                </a:cubicBezTo>
                <a:cubicBezTo>
                  <a:pt x="2140562" y="22615"/>
                  <a:pt x="2231007" y="16135"/>
                  <a:pt x="2531552" y="0"/>
                </a:cubicBezTo>
                <a:cubicBezTo>
                  <a:pt x="2832097" y="-16135"/>
                  <a:pt x="3072638" y="5612"/>
                  <a:pt x="3355778" y="0"/>
                </a:cubicBezTo>
                <a:cubicBezTo>
                  <a:pt x="3638918" y="-5612"/>
                  <a:pt x="3773672" y="-20681"/>
                  <a:pt x="3924886" y="0"/>
                </a:cubicBezTo>
                <a:cubicBezTo>
                  <a:pt x="4076100" y="20681"/>
                  <a:pt x="4443008" y="-7739"/>
                  <a:pt x="4579034" y="0"/>
                </a:cubicBezTo>
                <a:cubicBezTo>
                  <a:pt x="4715060" y="7739"/>
                  <a:pt x="4948566" y="-10678"/>
                  <a:pt x="5148142" y="0"/>
                </a:cubicBezTo>
                <a:cubicBezTo>
                  <a:pt x="5347718" y="10678"/>
                  <a:pt x="5601725" y="13556"/>
                  <a:pt x="5717251" y="0"/>
                </a:cubicBezTo>
                <a:cubicBezTo>
                  <a:pt x="5832777" y="-13556"/>
                  <a:pt x="6191778" y="-27307"/>
                  <a:pt x="6456438" y="0"/>
                </a:cubicBezTo>
                <a:cubicBezTo>
                  <a:pt x="6721098" y="27307"/>
                  <a:pt x="7083016" y="-9588"/>
                  <a:pt x="7280664" y="0"/>
                </a:cubicBezTo>
                <a:cubicBezTo>
                  <a:pt x="7478312" y="9588"/>
                  <a:pt x="7679973" y="-26565"/>
                  <a:pt x="7934812" y="0"/>
                </a:cubicBezTo>
                <a:cubicBezTo>
                  <a:pt x="8189651" y="26565"/>
                  <a:pt x="8322073" y="-25680"/>
                  <a:pt x="8503920" y="0"/>
                </a:cubicBezTo>
                <a:cubicBezTo>
                  <a:pt x="8491554" y="226926"/>
                  <a:pt x="8520034" y="303606"/>
                  <a:pt x="8503920" y="502646"/>
                </a:cubicBezTo>
                <a:cubicBezTo>
                  <a:pt x="8487806" y="701686"/>
                  <a:pt x="8524510" y="900350"/>
                  <a:pt x="8503920" y="1005292"/>
                </a:cubicBezTo>
                <a:cubicBezTo>
                  <a:pt x="8483330" y="1110234"/>
                  <a:pt x="8510639" y="1224309"/>
                  <a:pt x="8503920" y="1422583"/>
                </a:cubicBezTo>
                <a:cubicBezTo>
                  <a:pt x="8215460" y="1458073"/>
                  <a:pt x="8128630" y="1457709"/>
                  <a:pt x="7764733" y="1422583"/>
                </a:cubicBezTo>
                <a:cubicBezTo>
                  <a:pt x="7400836" y="1387457"/>
                  <a:pt x="7518044" y="1426800"/>
                  <a:pt x="7365703" y="1422583"/>
                </a:cubicBezTo>
                <a:cubicBezTo>
                  <a:pt x="7213362" y="1418367"/>
                  <a:pt x="6882724" y="1419958"/>
                  <a:pt x="6711555" y="1422583"/>
                </a:cubicBezTo>
                <a:cubicBezTo>
                  <a:pt x="6540386" y="1425208"/>
                  <a:pt x="6486465" y="1412342"/>
                  <a:pt x="6312525" y="1422583"/>
                </a:cubicBezTo>
                <a:cubicBezTo>
                  <a:pt x="6138585" y="1432825"/>
                  <a:pt x="5856906" y="1414053"/>
                  <a:pt x="5658378" y="1422583"/>
                </a:cubicBezTo>
                <a:cubicBezTo>
                  <a:pt x="5459850" y="1431113"/>
                  <a:pt x="5305981" y="1426503"/>
                  <a:pt x="5089269" y="1422583"/>
                </a:cubicBezTo>
                <a:cubicBezTo>
                  <a:pt x="4872557" y="1418663"/>
                  <a:pt x="4618699" y="1434631"/>
                  <a:pt x="4350082" y="1422583"/>
                </a:cubicBezTo>
                <a:cubicBezTo>
                  <a:pt x="4081465" y="1410535"/>
                  <a:pt x="3954094" y="1407666"/>
                  <a:pt x="3610895" y="1422583"/>
                </a:cubicBezTo>
                <a:cubicBezTo>
                  <a:pt x="3267696" y="1437500"/>
                  <a:pt x="3024457" y="1431520"/>
                  <a:pt x="2786669" y="1422583"/>
                </a:cubicBezTo>
                <a:cubicBezTo>
                  <a:pt x="2548881" y="1413646"/>
                  <a:pt x="2458845" y="1429622"/>
                  <a:pt x="2217561" y="1422583"/>
                </a:cubicBezTo>
                <a:cubicBezTo>
                  <a:pt x="1976277" y="1415544"/>
                  <a:pt x="1902086" y="1425215"/>
                  <a:pt x="1818531" y="1422583"/>
                </a:cubicBezTo>
                <a:cubicBezTo>
                  <a:pt x="1734976" y="1419952"/>
                  <a:pt x="1271153" y="1399694"/>
                  <a:pt x="1079344" y="1422583"/>
                </a:cubicBezTo>
                <a:cubicBezTo>
                  <a:pt x="887535" y="1445472"/>
                  <a:pt x="874806" y="1427816"/>
                  <a:pt x="680314" y="1422583"/>
                </a:cubicBezTo>
                <a:cubicBezTo>
                  <a:pt x="485822" y="1417351"/>
                  <a:pt x="230801" y="1426754"/>
                  <a:pt x="0" y="1422583"/>
                </a:cubicBezTo>
                <a:cubicBezTo>
                  <a:pt x="-736" y="1250733"/>
                  <a:pt x="-20121" y="1159478"/>
                  <a:pt x="0" y="976840"/>
                </a:cubicBezTo>
                <a:cubicBezTo>
                  <a:pt x="20121" y="794202"/>
                  <a:pt x="7109" y="638376"/>
                  <a:pt x="0" y="545323"/>
                </a:cubicBezTo>
                <a:cubicBezTo>
                  <a:pt x="-7109" y="452270"/>
                  <a:pt x="-26217" y="159730"/>
                  <a:pt x="0" y="0"/>
                </a:cubicBezTo>
                <a:close/>
              </a:path>
            </a:pathLst>
          </a:custGeom>
          <a:ln w="127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42179789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The AI Operations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0" cy="34290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01168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408176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08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KQI Streams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Alarms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286000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Topology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724912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49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Probes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163824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Counters</a:t>
            </a:r>
            <a:endParaRPr lang="en-US" sz="1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331720"/>
            <a:ext cx="365760" cy="36576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331720"/>
            <a:ext cx="365760" cy="3657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834640" y="749808"/>
            <a:ext cx="3127248" cy="3547872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834640" y="749808"/>
            <a:ext cx="3127248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834640" y="7498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Agent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1170432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2962656" y="1883664"/>
            <a:ext cx="2871216" cy="530352"/>
          </a:xfrm>
          <a:prstGeom prst="rect">
            <a:avLst/>
          </a:prstGeom>
          <a:solidFill>
            <a:srgbClr val="0D0F14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62656" y="1883664"/>
            <a:ext cx="475488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192024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493008" y="1920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3493008" y="2139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+ SLA Risk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962656" y="2505456"/>
            <a:ext cx="2871216" cy="530352"/>
          </a:xfrm>
          <a:prstGeom prst="rect">
            <a:avLst/>
          </a:prstGeom>
          <a:solidFill>
            <a:srgbClr val="0D0F1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962656" y="2505456"/>
            <a:ext cx="47548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232" y="2542032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93008" y="2542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493008" y="2761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OSS + BSS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2962656" y="3127248"/>
            <a:ext cx="2871216" cy="530352"/>
          </a:xfrm>
          <a:prstGeom prst="rect">
            <a:avLst/>
          </a:prstGeom>
          <a:solidFill>
            <a:srgbClr val="0D0F14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962656" y="3127248"/>
            <a:ext cx="475488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3163824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493008" y="31638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3493008" y="3383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2962656" y="3785616"/>
            <a:ext cx="2871216" cy="384048"/>
          </a:xfrm>
          <a:prstGeom prst="rect">
            <a:avLst/>
          </a:prstGeom>
          <a:solidFill>
            <a:srgbClr val="8E44AD">
              <a:alpha val="7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962656" y="3785616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Level 4 — Highly Autonomous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510528" y="804672"/>
            <a:ext cx="2011680" cy="34290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510528" y="804672"/>
            <a:ext cx="201168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510528" y="804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6510528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Mgmt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620256" y="1408176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693408" y="1408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Prevention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620256" y="1847088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693408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Triggers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620256" y="2286000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693408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Signals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620256" y="2724912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693408" y="27249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Alerts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6620256" y="3163824"/>
            <a:ext cx="1792224" cy="3657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693408" y="31638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274320" y="4462272"/>
            <a:ext cx="8595360" cy="310896"/>
          </a:xfrm>
          <a:prstGeom prst="rect">
            <a:avLst/>
          </a:prstGeom>
          <a:solidFill>
            <a:srgbClr val="8E44AD">
              <a:alpha val="2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274320" y="446227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intelligent brain between network experience and business value"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5-Phase Intelligence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1"/>
            <a:ext cx="1572768" cy="2913771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1572768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04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operator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(Tunisie Telecom OSS + BSS)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417320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11680" y="804672"/>
            <a:ext cx="1572768" cy="291377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804672"/>
            <a:ext cx="1572768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804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84832" y="12070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84832" y="1627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network + business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417320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730752" y="804672"/>
            <a:ext cx="1572768" cy="291377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30752" y="804672"/>
            <a:ext cx="1572768" cy="32918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30752" y="804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803904" y="12070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803904" y="1627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risk · Anomaly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Correlation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417320"/>
            <a:ext cx="256032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449824" y="804672"/>
            <a:ext cx="1572768" cy="291377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49824" y="804672"/>
            <a:ext cx="1572768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49824" y="804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22976" y="12070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522976" y="1627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+ prioritises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417320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168896" y="797638"/>
            <a:ext cx="1572768" cy="292080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68896" y="804672"/>
            <a:ext cx="1572768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68896" y="804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242048" y="120700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242048" y="1627632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 + actions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consumption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237744" y="3998038"/>
            <a:ext cx="8558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steps fully automated — no manual intervention required. Full lineage tracked via run_id.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Layer: AI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1993392" cy="213969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1993392" cy="329184"/>
          </a:xfrm>
          <a:prstGeom prst="rect">
            <a:avLst/>
          </a:prstGeom>
          <a:solidFill>
            <a:srgbClr val="CF0A2C">
              <a:alpha val="90000"/>
            </a:srgbClr>
          </a:solidFill>
          <a:ln w="19050">
            <a:solidFill>
              <a:srgbClr val="CF0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SLA Risk Prediction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207008"/>
            <a:ext cx="47548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336" y="1792224"/>
            <a:ext cx="1773936" cy="237744"/>
          </a:xfrm>
          <a:prstGeom prst="rect">
            <a:avLst/>
          </a:prstGeom>
          <a:solidFill>
            <a:srgbClr val="0D0F14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792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0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GradientBoosting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" y="21031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SLA breach?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02336" y="2505456"/>
            <a:ext cx="1773936" cy="256032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250545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score 0→1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50592" y="804672"/>
            <a:ext cx="1993392" cy="212140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50592" y="804672"/>
            <a:ext cx="1993392" cy="329184"/>
          </a:xfrm>
          <a:prstGeom prst="rect">
            <a:avLst/>
          </a:prstGeom>
          <a:solidFill>
            <a:srgbClr val="2E86AB">
              <a:alpha val="90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23744" y="8046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Network Anomaly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207008"/>
            <a:ext cx="475488" cy="4754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560320" y="1792224"/>
            <a:ext cx="1773936" cy="237744"/>
          </a:xfrm>
          <a:prstGeom prst="rect">
            <a:avLst/>
          </a:prstGeom>
          <a:solidFill>
            <a:srgbClr val="0D0F14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0" y="1792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IsolationForest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42032" y="21031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cell behaving abnormally?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560320" y="2505456"/>
            <a:ext cx="1773936" cy="256032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0320" y="250545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Anomaly score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608576" y="804672"/>
            <a:ext cx="1993392" cy="212140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08576" y="804672"/>
            <a:ext cx="1993392" cy="329184"/>
          </a:xfrm>
          <a:prstGeom prst="rect">
            <a:avLst/>
          </a:prstGeom>
          <a:solidFill>
            <a:srgbClr val="27AE60">
              <a:alpha val="90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81728" y="8046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Revenue Anomaly</a:t>
            </a:r>
            <a:endParaRPr lang="en-US" sz="9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207008"/>
            <a:ext cx="475488" cy="47548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718304" y="1792224"/>
            <a:ext cx="1773936" cy="237744"/>
          </a:xfrm>
          <a:prstGeom prst="rect">
            <a:avLst/>
          </a:prstGeom>
          <a:solidFill>
            <a:srgbClr val="0D0F1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18304" y="1792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IsolationForest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700016" y="21031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dropping unexpectedly?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718304" y="2505456"/>
            <a:ext cx="1773936" cy="256032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18304" y="250545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Severity 0→1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766560" y="804672"/>
            <a:ext cx="1993392" cy="213969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766560" y="804672"/>
            <a:ext cx="1993392" cy="329184"/>
          </a:xfrm>
          <a:prstGeom prst="rect">
            <a:avLst/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39712" y="8046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O+B Correlation</a:t>
            </a:r>
            <a:endParaRPr lang="en-US" sz="9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207008"/>
            <a:ext cx="475488" cy="47548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876288" y="1792224"/>
            <a:ext cx="1773936" cy="237744"/>
          </a:xfrm>
          <a:prstGeom prst="rect">
            <a:avLst/>
          </a:prstGeom>
          <a:solidFill>
            <a:srgbClr val="0D0F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876288" y="179222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 + Spearman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858000" y="21031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network do to revenue?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876288" y="2505456"/>
            <a:ext cx="1773936" cy="256032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876288" y="250545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Correlation pairs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237744" y="293522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outputs feed into the Decision &amp; Action Engine  →  Typed, prioritised CVM actions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292608" y="3822192"/>
            <a:ext cx="10972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741664" y="3822192"/>
            <a:ext cx="10972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292608" y="4846320"/>
            <a:ext cx="10972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741664" y="4846320"/>
            <a:ext cx="10972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29768" y="4187952"/>
            <a:ext cx="8284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 #5 — ML Pipeline with Action Engine ]</a:t>
            </a:r>
            <a:endParaRPr lang="en-US" sz="1100" dirty="0"/>
          </a:p>
        </p:txBody>
      </p:sp>
      <p:pic>
        <p:nvPicPr>
          <p:cNvPr id="50" name="Picture 49" descr="A&#10; diagram of a flowchart">
            <a:extLst>
              <a:ext uri="{FF2B5EF4-FFF2-40B4-BE49-F238E27FC236}">
                <a16:creationId xmlns:a16="http://schemas.microsoft.com/office/drawing/2014/main" id="{EB836A57-7A15-B446-ED11-D7828450B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" y="3215874"/>
            <a:ext cx="8851392" cy="1859046"/>
          </a:xfrm>
          <a:custGeom>
            <a:avLst/>
            <a:gdLst>
              <a:gd name="connsiteX0" fmla="*/ 0 w 8851392"/>
              <a:gd name="connsiteY0" fmla="*/ 0 h 1859046"/>
              <a:gd name="connsiteX1" fmla="*/ 503848 w 8851392"/>
              <a:gd name="connsiteY1" fmla="*/ 0 h 1859046"/>
              <a:gd name="connsiteX2" fmla="*/ 1007697 w 8851392"/>
              <a:gd name="connsiteY2" fmla="*/ 0 h 1859046"/>
              <a:gd name="connsiteX3" fmla="*/ 1511545 w 8851392"/>
              <a:gd name="connsiteY3" fmla="*/ 0 h 1859046"/>
              <a:gd name="connsiteX4" fmla="*/ 2369450 w 8851392"/>
              <a:gd name="connsiteY4" fmla="*/ 0 h 1859046"/>
              <a:gd name="connsiteX5" fmla="*/ 2784784 w 8851392"/>
              <a:gd name="connsiteY5" fmla="*/ 0 h 1859046"/>
              <a:gd name="connsiteX6" fmla="*/ 3288633 w 8851392"/>
              <a:gd name="connsiteY6" fmla="*/ 0 h 1859046"/>
              <a:gd name="connsiteX7" fmla="*/ 3880995 w 8851392"/>
              <a:gd name="connsiteY7" fmla="*/ 0 h 1859046"/>
              <a:gd name="connsiteX8" fmla="*/ 4384843 w 8851392"/>
              <a:gd name="connsiteY8" fmla="*/ 0 h 1859046"/>
              <a:gd name="connsiteX9" fmla="*/ 5065720 w 8851392"/>
              <a:gd name="connsiteY9" fmla="*/ 0 h 1859046"/>
              <a:gd name="connsiteX10" fmla="*/ 5923624 w 8851392"/>
              <a:gd name="connsiteY10" fmla="*/ 0 h 1859046"/>
              <a:gd name="connsiteX11" fmla="*/ 6515986 w 8851392"/>
              <a:gd name="connsiteY11" fmla="*/ 0 h 1859046"/>
              <a:gd name="connsiteX12" fmla="*/ 6931321 w 8851392"/>
              <a:gd name="connsiteY12" fmla="*/ 0 h 1859046"/>
              <a:gd name="connsiteX13" fmla="*/ 7523683 w 8851392"/>
              <a:gd name="connsiteY13" fmla="*/ 0 h 1859046"/>
              <a:gd name="connsiteX14" fmla="*/ 8851392 w 8851392"/>
              <a:gd name="connsiteY14" fmla="*/ 0 h 1859046"/>
              <a:gd name="connsiteX15" fmla="*/ 8851392 w 8851392"/>
              <a:gd name="connsiteY15" fmla="*/ 582501 h 1859046"/>
              <a:gd name="connsiteX16" fmla="*/ 8851392 w 8851392"/>
              <a:gd name="connsiteY16" fmla="*/ 1165002 h 1859046"/>
              <a:gd name="connsiteX17" fmla="*/ 8851392 w 8851392"/>
              <a:gd name="connsiteY17" fmla="*/ 1859046 h 1859046"/>
              <a:gd name="connsiteX18" fmla="*/ 8170516 w 8851392"/>
              <a:gd name="connsiteY18" fmla="*/ 1859046 h 1859046"/>
              <a:gd name="connsiteX19" fmla="*/ 7666667 w 8851392"/>
              <a:gd name="connsiteY19" fmla="*/ 1859046 h 1859046"/>
              <a:gd name="connsiteX20" fmla="*/ 7074305 w 8851392"/>
              <a:gd name="connsiteY20" fmla="*/ 1859046 h 1859046"/>
              <a:gd name="connsiteX21" fmla="*/ 6393429 w 8851392"/>
              <a:gd name="connsiteY21" fmla="*/ 1859046 h 1859046"/>
              <a:gd name="connsiteX22" fmla="*/ 5801066 w 8851392"/>
              <a:gd name="connsiteY22" fmla="*/ 1859046 h 1859046"/>
              <a:gd name="connsiteX23" fmla="*/ 5208704 w 8851392"/>
              <a:gd name="connsiteY23" fmla="*/ 1859046 h 1859046"/>
              <a:gd name="connsiteX24" fmla="*/ 4527827 w 8851392"/>
              <a:gd name="connsiteY24" fmla="*/ 1859046 h 1859046"/>
              <a:gd name="connsiteX25" fmla="*/ 4112493 w 8851392"/>
              <a:gd name="connsiteY25" fmla="*/ 1859046 h 1859046"/>
              <a:gd name="connsiteX26" fmla="*/ 3254589 w 8851392"/>
              <a:gd name="connsiteY26" fmla="*/ 1859046 h 1859046"/>
              <a:gd name="connsiteX27" fmla="*/ 2839254 w 8851392"/>
              <a:gd name="connsiteY27" fmla="*/ 1859046 h 1859046"/>
              <a:gd name="connsiteX28" fmla="*/ 2335406 w 8851392"/>
              <a:gd name="connsiteY28" fmla="*/ 1859046 h 1859046"/>
              <a:gd name="connsiteX29" fmla="*/ 1654529 w 8851392"/>
              <a:gd name="connsiteY29" fmla="*/ 1859046 h 1859046"/>
              <a:gd name="connsiteX30" fmla="*/ 1062167 w 8851392"/>
              <a:gd name="connsiteY30" fmla="*/ 1859046 h 1859046"/>
              <a:gd name="connsiteX31" fmla="*/ 646832 w 8851392"/>
              <a:gd name="connsiteY31" fmla="*/ 1859046 h 1859046"/>
              <a:gd name="connsiteX32" fmla="*/ 0 w 8851392"/>
              <a:gd name="connsiteY32" fmla="*/ 1859046 h 1859046"/>
              <a:gd name="connsiteX33" fmla="*/ 0 w 8851392"/>
              <a:gd name="connsiteY33" fmla="*/ 1295135 h 1859046"/>
              <a:gd name="connsiteX34" fmla="*/ 0 w 8851392"/>
              <a:gd name="connsiteY34" fmla="*/ 638272 h 1859046"/>
              <a:gd name="connsiteX35" fmla="*/ 0 w 8851392"/>
              <a:gd name="connsiteY35" fmla="*/ 0 h 185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851392" h="1859046" fill="none" extrusionOk="0">
                <a:moveTo>
                  <a:pt x="0" y="0"/>
                </a:moveTo>
                <a:cubicBezTo>
                  <a:pt x="209832" y="-4041"/>
                  <a:pt x="338861" y="-2583"/>
                  <a:pt x="503848" y="0"/>
                </a:cubicBezTo>
                <a:cubicBezTo>
                  <a:pt x="668835" y="2583"/>
                  <a:pt x="814211" y="-19187"/>
                  <a:pt x="1007697" y="0"/>
                </a:cubicBezTo>
                <a:cubicBezTo>
                  <a:pt x="1201183" y="19187"/>
                  <a:pt x="1315905" y="-13505"/>
                  <a:pt x="1511545" y="0"/>
                </a:cubicBezTo>
                <a:cubicBezTo>
                  <a:pt x="1707185" y="13505"/>
                  <a:pt x="2069635" y="23246"/>
                  <a:pt x="2369450" y="0"/>
                </a:cubicBezTo>
                <a:cubicBezTo>
                  <a:pt x="2669266" y="-23246"/>
                  <a:pt x="2637273" y="4206"/>
                  <a:pt x="2784784" y="0"/>
                </a:cubicBezTo>
                <a:cubicBezTo>
                  <a:pt x="2932295" y="-4206"/>
                  <a:pt x="3121149" y="9914"/>
                  <a:pt x="3288633" y="0"/>
                </a:cubicBezTo>
                <a:cubicBezTo>
                  <a:pt x="3456117" y="-9914"/>
                  <a:pt x="3609831" y="8097"/>
                  <a:pt x="3880995" y="0"/>
                </a:cubicBezTo>
                <a:cubicBezTo>
                  <a:pt x="4152159" y="-8097"/>
                  <a:pt x="4214817" y="5860"/>
                  <a:pt x="4384843" y="0"/>
                </a:cubicBezTo>
                <a:cubicBezTo>
                  <a:pt x="4554869" y="-5860"/>
                  <a:pt x="4923043" y="6186"/>
                  <a:pt x="5065720" y="0"/>
                </a:cubicBezTo>
                <a:cubicBezTo>
                  <a:pt x="5208397" y="-6186"/>
                  <a:pt x="5515366" y="-5850"/>
                  <a:pt x="5923624" y="0"/>
                </a:cubicBezTo>
                <a:cubicBezTo>
                  <a:pt x="6331882" y="5850"/>
                  <a:pt x="6272457" y="-2546"/>
                  <a:pt x="6515986" y="0"/>
                </a:cubicBezTo>
                <a:cubicBezTo>
                  <a:pt x="6759515" y="2546"/>
                  <a:pt x="6743167" y="-14399"/>
                  <a:pt x="6931321" y="0"/>
                </a:cubicBezTo>
                <a:cubicBezTo>
                  <a:pt x="7119476" y="14399"/>
                  <a:pt x="7361557" y="5362"/>
                  <a:pt x="7523683" y="0"/>
                </a:cubicBezTo>
                <a:cubicBezTo>
                  <a:pt x="7685809" y="-5362"/>
                  <a:pt x="8443837" y="-6540"/>
                  <a:pt x="8851392" y="0"/>
                </a:cubicBezTo>
                <a:cubicBezTo>
                  <a:pt x="8859877" y="130827"/>
                  <a:pt x="8828239" y="355290"/>
                  <a:pt x="8851392" y="582501"/>
                </a:cubicBezTo>
                <a:cubicBezTo>
                  <a:pt x="8874545" y="809712"/>
                  <a:pt x="8872918" y="924599"/>
                  <a:pt x="8851392" y="1165002"/>
                </a:cubicBezTo>
                <a:cubicBezTo>
                  <a:pt x="8829866" y="1405405"/>
                  <a:pt x="8879082" y="1547628"/>
                  <a:pt x="8851392" y="1859046"/>
                </a:cubicBezTo>
                <a:cubicBezTo>
                  <a:pt x="8542953" y="1862270"/>
                  <a:pt x="8378015" y="1842174"/>
                  <a:pt x="8170516" y="1859046"/>
                </a:cubicBezTo>
                <a:cubicBezTo>
                  <a:pt x="7963017" y="1875918"/>
                  <a:pt x="7778485" y="1871734"/>
                  <a:pt x="7666667" y="1859046"/>
                </a:cubicBezTo>
                <a:cubicBezTo>
                  <a:pt x="7554849" y="1846358"/>
                  <a:pt x="7320776" y="1880190"/>
                  <a:pt x="7074305" y="1859046"/>
                </a:cubicBezTo>
                <a:cubicBezTo>
                  <a:pt x="6827834" y="1837902"/>
                  <a:pt x="6533310" y="1850974"/>
                  <a:pt x="6393429" y="1859046"/>
                </a:cubicBezTo>
                <a:cubicBezTo>
                  <a:pt x="6253548" y="1867118"/>
                  <a:pt x="6055712" y="1846477"/>
                  <a:pt x="5801066" y="1859046"/>
                </a:cubicBezTo>
                <a:cubicBezTo>
                  <a:pt x="5546420" y="1871615"/>
                  <a:pt x="5339024" y="1847446"/>
                  <a:pt x="5208704" y="1859046"/>
                </a:cubicBezTo>
                <a:cubicBezTo>
                  <a:pt x="5078384" y="1870646"/>
                  <a:pt x="4769776" y="1866378"/>
                  <a:pt x="4527827" y="1859046"/>
                </a:cubicBezTo>
                <a:cubicBezTo>
                  <a:pt x="4285878" y="1851714"/>
                  <a:pt x="4274022" y="1865028"/>
                  <a:pt x="4112493" y="1859046"/>
                </a:cubicBezTo>
                <a:cubicBezTo>
                  <a:pt x="3950964" y="1853064"/>
                  <a:pt x="3461591" y="1838611"/>
                  <a:pt x="3254589" y="1859046"/>
                </a:cubicBezTo>
                <a:cubicBezTo>
                  <a:pt x="3047587" y="1879481"/>
                  <a:pt x="2930596" y="1852621"/>
                  <a:pt x="2839254" y="1859046"/>
                </a:cubicBezTo>
                <a:cubicBezTo>
                  <a:pt x="2747913" y="1865471"/>
                  <a:pt x="2442324" y="1868173"/>
                  <a:pt x="2335406" y="1859046"/>
                </a:cubicBezTo>
                <a:cubicBezTo>
                  <a:pt x="2228488" y="1849919"/>
                  <a:pt x="1826802" y="1858882"/>
                  <a:pt x="1654529" y="1859046"/>
                </a:cubicBezTo>
                <a:cubicBezTo>
                  <a:pt x="1482256" y="1859210"/>
                  <a:pt x="1342890" y="1856106"/>
                  <a:pt x="1062167" y="1859046"/>
                </a:cubicBezTo>
                <a:cubicBezTo>
                  <a:pt x="781444" y="1861986"/>
                  <a:pt x="803522" y="1863271"/>
                  <a:pt x="646832" y="1859046"/>
                </a:cubicBezTo>
                <a:cubicBezTo>
                  <a:pt x="490143" y="1854821"/>
                  <a:pt x="208671" y="1833264"/>
                  <a:pt x="0" y="1859046"/>
                </a:cubicBezTo>
                <a:cubicBezTo>
                  <a:pt x="-24953" y="1697250"/>
                  <a:pt x="11438" y="1558194"/>
                  <a:pt x="0" y="1295135"/>
                </a:cubicBezTo>
                <a:cubicBezTo>
                  <a:pt x="-11438" y="1032076"/>
                  <a:pt x="14340" y="788117"/>
                  <a:pt x="0" y="638272"/>
                </a:cubicBezTo>
                <a:cubicBezTo>
                  <a:pt x="-14340" y="488427"/>
                  <a:pt x="15795" y="290224"/>
                  <a:pt x="0" y="0"/>
                </a:cubicBezTo>
                <a:close/>
              </a:path>
              <a:path w="8851392" h="1859046" stroke="0" extrusionOk="0">
                <a:moveTo>
                  <a:pt x="0" y="0"/>
                </a:moveTo>
                <a:cubicBezTo>
                  <a:pt x="310014" y="-27985"/>
                  <a:pt x="392209" y="27906"/>
                  <a:pt x="680876" y="0"/>
                </a:cubicBezTo>
                <a:cubicBezTo>
                  <a:pt x="969543" y="-27906"/>
                  <a:pt x="954268" y="10231"/>
                  <a:pt x="1096211" y="0"/>
                </a:cubicBezTo>
                <a:cubicBezTo>
                  <a:pt x="1238154" y="-10231"/>
                  <a:pt x="1513042" y="33765"/>
                  <a:pt x="1777087" y="0"/>
                </a:cubicBezTo>
                <a:cubicBezTo>
                  <a:pt x="2041132" y="-33765"/>
                  <a:pt x="2036825" y="1095"/>
                  <a:pt x="2192422" y="0"/>
                </a:cubicBezTo>
                <a:cubicBezTo>
                  <a:pt x="2348020" y="-1095"/>
                  <a:pt x="2457860" y="6390"/>
                  <a:pt x="2696270" y="0"/>
                </a:cubicBezTo>
                <a:cubicBezTo>
                  <a:pt x="2934680" y="-6390"/>
                  <a:pt x="3062207" y="-21549"/>
                  <a:pt x="3200119" y="0"/>
                </a:cubicBezTo>
                <a:cubicBezTo>
                  <a:pt x="3338031" y="21549"/>
                  <a:pt x="3705972" y="-10152"/>
                  <a:pt x="3880995" y="0"/>
                </a:cubicBezTo>
                <a:cubicBezTo>
                  <a:pt x="4056018" y="10152"/>
                  <a:pt x="4353947" y="-3534"/>
                  <a:pt x="4738899" y="0"/>
                </a:cubicBezTo>
                <a:cubicBezTo>
                  <a:pt x="5123851" y="3534"/>
                  <a:pt x="5081205" y="-32201"/>
                  <a:pt x="5419775" y="0"/>
                </a:cubicBezTo>
                <a:cubicBezTo>
                  <a:pt x="5758345" y="32201"/>
                  <a:pt x="5639262" y="20397"/>
                  <a:pt x="5835110" y="0"/>
                </a:cubicBezTo>
                <a:cubicBezTo>
                  <a:pt x="6030958" y="-20397"/>
                  <a:pt x="6189657" y="21363"/>
                  <a:pt x="6427472" y="0"/>
                </a:cubicBezTo>
                <a:cubicBezTo>
                  <a:pt x="6665287" y="-21363"/>
                  <a:pt x="6705154" y="3055"/>
                  <a:pt x="6842807" y="0"/>
                </a:cubicBezTo>
                <a:cubicBezTo>
                  <a:pt x="6980461" y="-3055"/>
                  <a:pt x="7299942" y="-4791"/>
                  <a:pt x="7612197" y="0"/>
                </a:cubicBezTo>
                <a:cubicBezTo>
                  <a:pt x="7924452" y="4791"/>
                  <a:pt x="7989834" y="22641"/>
                  <a:pt x="8116046" y="0"/>
                </a:cubicBezTo>
                <a:cubicBezTo>
                  <a:pt x="8242258" y="-22641"/>
                  <a:pt x="8701811" y="-28494"/>
                  <a:pt x="8851392" y="0"/>
                </a:cubicBezTo>
                <a:cubicBezTo>
                  <a:pt x="8840921" y="190740"/>
                  <a:pt x="8864116" y="287380"/>
                  <a:pt x="8851392" y="563911"/>
                </a:cubicBezTo>
                <a:cubicBezTo>
                  <a:pt x="8838668" y="840442"/>
                  <a:pt x="8857670" y="983089"/>
                  <a:pt x="8851392" y="1165002"/>
                </a:cubicBezTo>
                <a:cubicBezTo>
                  <a:pt x="8845114" y="1346915"/>
                  <a:pt x="8850391" y="1554693"/>
                  <a:pt x="8851392" y="1859046"/>
                </a:cubicBezTo>
                <a:cubicBezTo>
                  <a:pt x="8654029" y="1861500"/>
                  <a:pt x="8242684" y="1836012"/>
                  <a:pt x="8082002" y="1859046"/>
                </a:cubicBezTo>
                <a:cubicBezTo>
                  <a:pt x="7921320" y="1882081"/>
                  <a:pt x="7559982" y="1829955"/>
                  <a:pt x="7312612" y="1859046"/>
                </a:cubicBezTo>
                <a:cubicBezTo>
                  <a:pt x="7065242" y="1888138"/>
                  <a:pt x="6865251" y="1886927"/>
                  <a:pt x="6720249" y="1859046"/>
                </a:cubicBezTo>
                <a:cubicBezTo>
                  <a:pt x="6575247" y="1831165"/>
                  <a:pt x="6336533" y="1848168"/>
                  <a:pt x="6216401" y="1859046"/>
                </a:cubicBezTo>
                <a:cubicBezTo>
                  <a:pt x="6096269" y="1869924"/>
                  <a:pt x="5546215" y="1868201"/>
                  <a:pt x="5358497" y="1859046"/>
                </a:cubicBezTo>
                <a:cubicBezTo>
                  <a:pt x="5170779" y="1849891"/>
                  <a:pt x="5084816" y="1846298"/>
                  <a:pt x="4854648" y="1859046"/>
                </a:cubicBezTo>
                <a:cubicBezTo>
                  <a:pt x="4624480" y="1871794"/>
                  <a:pt x="4359122" y="1889182"/>
                  <a:pt x="3996744" y="1859046"/>
                </a:cubicBezTo>
                <a:cubicBezTo>
                  <a:pt x="3634366" y="1828910"/>
                  <a:pt x="3494784" y="1882917"/>
                  <a:pt x="3315868" y="1859046"/>
                </a:cubicBezTo>
                <a:cubicBezTo>
                  <a:pt x="3136952" y="1835175"/>
                  <a:pt x="2904117" y="1869515"/>
                  <a:pt x="2546477" y="1859046"/>
                </a:cubicBezTo>
                <a:cubicBezTo>
                  <a:pt x="2188837" y="1848577"/>
                  <a:pt x="2010716" y="1887019"/>
                  <a:pt x="1865601" y="1859046"/>
                </a:cubicBezTo>
                <a:cubicBezTo>
                  <a:pt x="1720486" y="1831073"/>
                  <a:pt x="1404972" y="1859418"/>
                  <a:pt x="1007697" y="1859046"/>
                </a:cubicBezTo>
                <a:cubicBezTo>
                  <a:pt x="610422" y="1858674"/>
                  <a:pt x="323694" y="1818863"/>
                  <a:pt x="0" y="1859046"/>
                </a:cubicBezTo>
                <a:cubicBezTo>
                  <a:pt x="15729" y="1552218"/>
                  <a:pt x="12697" y="1372301"/>
                  <a:pt x="0" y="1239364"/>
                </a:cubicBezTo>
                <a:cubicBezTo>
                  <a:pt x="-12697" y="1106427"/>
                  <a:pt x="29886" y="866954"/>
                  <a:pt x="0" y="582501"/>
                </a:cubicBezTo>
                <a:cubicBezTo>
                  <a:pt x="-29886" y="298048"/>
                  <a:pt x="15228" y="236622"/>
                  <a:pt x="0" y="0"/>
                </a:cubicBezTo>
                <a:close/>
              </a:path>
            </a:pathLst>
          </a:custGeom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901490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Engine — What Makes Us ADN L4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8558784" cy="310896"/>
          </a:xfrm>
          <a:prstGeom prst="rect">
            <a:avLst/>
          </a:prstGeom>
          <a:solidFill>
            <a:srgbClr val="1E2538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04672"/>
            <a:ext cx="8558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(L3): AI recommends → human decides everything   |   Autonomous Agent (L4): AI decides AND acts — human handles edge cases only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" y="1207007"/>
            <a:ext cx="5120640" cy="3498635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207008"/>
            <a:ext cx="512064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07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1554480"/>
            <a:ext cx="4901184" cy="393192"/>
          </a:xfrm>
          <a:prstGeom prst="rect">
            <a:avLst/>
          </a:prstGeom>
          <a:solidFill>
            <a:srgbClr val="0D0F14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554480"/>
            <a:ext cx="54864" cy="3931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91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Risk &gt; 0.7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5910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Proactive Network Alert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618488"/>
            <a:ext cx="566928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6184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336" y="2011680"/>
            <a:ext cx="4901184" cy="393192"/>
          </a:xfrm>
          <a:prstGeom prst="rect">
            <a:avLst/>
          </a:prstGeom>
          <a:solidFill>
            <a:srgbClr val="0D0F14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011680"/>
            <a:ext cx="54864" cy="393192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048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Revenue Drop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0482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Churn Prevention Campaign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2075688"/>
            <a:ext cx="566928" cy="256032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0756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2336" y="2468880"/>
            <a:ext cx="4901184" cy="393192"/>
          </a:xfrm>
          <a:prstGeom prst="rect">
            <a:avLst/>
          </a:prstGeom>
          <a:solidFill>
            <a:srgbClr val="0D0F1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2468880"/>
            <a:ext cx="54864" cy="3931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+ Revenue Spike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25054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Upsell Opportunity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26864" y="2532888"/>
            <a:ext cx="56692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5328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2336" y="2926080"/>
            <a:ext cx="4901184" cy="393192"/>
          </a:xfrm>
          <a:prstGeom prst="rect">
            <a:avLst/>
          </a:prstGeom>
          <a:solidFill>
            <a:srgbClr val="0D0F14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" y="2926080"/>
            <a:ext cx="54864" cy="3931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Correlation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29626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Insight Report for CVM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2990088"/>
            <a:ext cx="566928" cy="256032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990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02336" y="3383280"/>
            <a:ext cx="4901184" cy="393192"/>
          </a:xfrm>
          <a:prstGeom prst="rect">
            <a:avLst/>
          </a:prstGeom>
          <a:solidFill>
            <a:srgbClr val="0D0F14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3383280"/>
            <a:ext cx="54864" cy="3931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Multi-anomaly Same Region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0" y="3419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Escalation Ticket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26864" y="3447288"/>
            <a:ext cx="566928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34472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59552" y="1207008"/>
            <a:ext cx="3291840" cy="349863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559552" y="1207008"/>
            <a:ext cx="329184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Lifecycle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1572768"/>
            <a:ext cx="2340864" cy="402336"/>
          </a:xfrm>
          <a:prstGeom prst="rect">
            <a:avLst/>
          </a:prstGeom>
          <a:solidFill>
            <a:srgbClr val="1E2538"/>
          </a:solidFill>
          <a:ln w="19050">
            <a:solidFill>
              <a:srgbClr val="64748B"/>
            </a:solidFill>
            <a:prstDash val="solid"/>
          </a:ln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993392"/>
            <a:ext cx="237744" cy="23774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6035040" y="157276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035040" y="2084832"/>
            <a:ext cx="2340864" cy="402336"/>
          </a:xfrm>
          <a:prstGeom prst="rect">
            <a:avLst/>
          </a:prstGeom>
          <a:solidFill>
            <a:srgbClr val="1E2538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505456"/>
            <a:ext cx="237744" cy="237744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035040" y="208483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6035040" y="2596896"/>
            <a:ext cx="2340864" cy="402336"/>
          </a:xfrm>
          <a:prstGeom prst="rect">
            <a:avLst/>
          </a:prstGeom>
          <a:solidFill>
            <a:srgbClr val="1E2538"/>
          </a:solidFill>
          <a:ln w="19050">
            <a:solidFill>
              <a:srgbClr val="27AE60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017520"/>
            <a:ext cx="237744" cy="237744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035040" y="2596896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6035040" y="3108960"/>
            <a:ext cx="2340864" cy="402336"/>
          </a:xfrm>
          <a:prstGeom prst="rect">
            <a:avLst/>
          </a:prstGeom>
          <a:solidFill>
            <a:srgbClr val="1E2538"/>
          </a:solidFill>
          <a:ln w="19050">
            <a:solidFill>
              <a:srgbClr val="CF0A2C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035040" y="3108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DISMISSED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Engine — What Makes Us ADN L4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61" name="Picture 60" descr="A diagram of a diagram">
            <a:extLst>
              <a:ext uri="{FF2B5EF4-FFF2-40B4-BE49-F238E27FC236}">
                <a16:creationId xmlns:a16="http://schemas.microsoft.com/office/drawing/2014/main" id="{891899D3-6251-CF22-32DD-215EEE0A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1124712"/>
            <a:ext cx="8806375" cy="3178309"/>
          </a:xfrm>
          <a:custGeom>
            <a:avLst/>
            <a:gdLst>
              <a:gd name="connsiteX0" fmla="*/ 0 w 8806375"/>
              <a:gd name="connsiteY0" fmla="*/ 0 h 3178309"/>
              <a:gd name="connsiteX1" fmla="*/ 589350 w 8806375"/>
              <a:gd name="connsiteY1" fmla="*/ 0 h 3178309"/>
              <a:gd name="connsiteX2" fmla="*/ 1178699 w 8806375"/>
              <a:gd name="connsiteY2" fmla="*/ 0 h 3178309"/>
              <a:gd name="connsiteX3" fmla="*/ 1679985 w 8806375"/>
              <a:gd name="connsiteY3" fmla="*/ 0 h 3178309"/>
              <a:gd name="connsiteX4" fmla="*/ 2181271 w 8806375"/>
              <a:gd name="connsiteY4" fmla="*/ 0 h 3178309"/>
              <a:gd name="connsiteX5" fmla="*/ 3034812 w 8806375"/>
              <a:gd name="connsiteY5" fmla="*/ 0 h 3178309"/>
              <a:gd name="connsiteX6" fmla="*/ 3800290 w 8806375"/>
              <a:gd name="connsiteY6" fmla="*/ 0 h 3178309"/>
              <a:gd name="connsiteX7" fmla="*/ 4389639 w 8806375"/>
              <a:gd name="connsiteY7" fmla="*/ 0 h 3178309"/>
              <a:gd name="connsiteX8" fmla="*/ 5067053 w 8806375"/>
              <a:gd name="connsiteY8" fmla="*/ 0 h 3178309"/>
              <a:gd name="connsiteX9" fmla="*/ 5568339 w 8806375"/>
              <a:gd name="connsiteY9" fmla="*/ 0 h 3178309"/>
              <a:gd name="connsiteX10" fmla="*/ 6245752 w 8806375"/>
              <a:gd name="connsiteY10" fmla="*/ 0 h 3178309"/>
              <a:gd name="connsiteX11" fmla="*/ 7011229 w 8806375"/>
              <a:gd name="connsiteY11" fmla="*/ 0 h 3178309"/>
              <a:gd name="connsiteX12" fmla="*/ 7424452 w 8806375"/>
              <a:gd name="connsiteY12" fmla="*/ 0 h 3178309"/>
              <a:gd name="connsiteX13" fmla="*/ 7837674 w 8806375"/>
              <a:gd name="connsiteY13" fmla="*/ 0 h 3178309"/>
              <a:gd name="connsiteX14" fmla="*/ 8806375 w 8806375"/>
              <a:gd name="connsiteY14" fmla="*/ 0 h 3178309"/>
              <a:gd name="connsiteX15" fmla="*/ 8806375 w 8806375"/>
              <a:gd name="connsiteY15" fmla="*/ 572096 h 3178309"/>
              <a:gd name="connsiteX16" fmla="*/ 8806375 w 8806375"/>
              <a:gd name="connsiteY16" fmla="*/ 1239541 h 3178309"/>
              <a:gd name="connsiteX17" fmla="*/ 8806375 w 8806375"/>
              <a:gd name="connsiteY17" fmla="*/ 1906985 h 3178309"/>
              <a:gd name="connsiteX18" fmla="*/ 8806375 w 8806375"/>
              <a:gd name="connsiteY18" fmla="*/ 2447298 h 3178309"/>
              <a:gd name="connsiteX19" fmla="*/ 8806375 w 8806375"/>
              <a:gd name="connsiteY19" fmla="*/ 3178309 h 3178309"/>
              <a:gd name="connsiteX20" fmla="*/ 8305089 w 8806375"/>
              <a:gd name="connsiteY20" fmla="*/ 3178309 h 3178309"/>
              <a:gd name="connsiteX21" fmla="*/ 7627676 w 8806375"/>
              <a:gd name="connsiteY21" fmla="*/ 3178309 h 3178309"/>
              <a:gd name="connsiteX22" fmla="*/ 6774135 w 8806375"/>
              <a:gd name="connsiteY22" fmla="*/ 3178309 h 3178309"/>
              <a:gd name="connsiteX23" fmla="*/ 6096721 w 8806375"/>
              <a:gd name="connsiteY23" fmla="*/ 3178309 h 3178309"/>
              <a:gd name="connsiteX24" fmla="*/ 5683499 w 8806375"/>
              <a:gd name="connsiteY24" fmla="*/ 3178309 h 3178309"/>
              <a:gd name="connsiteX25" fmla="*/ 5094149 w 8806375"/>
              <a:gd name="connsiteY25" fmla="*/ 3178309 h 3178309"/>
              <a:gd name="connsiteX26" fmla="*/ 4504800 w 8806375"/>
              <a:gd name="connsiteY26" fmla="*/ 3178309 h 3178309"/>
              <a:gd name="connsiteX27" fmla="*/ 3827386 w 8806375"/>
              <a:gd name="connsiteY27" fmla="*/ 3178309 h 3178309"/>
              <a:gd name="connsiteX28" fmla="*/ 3414164 w 8806375"/>
              <a:gd name="connsiteY28" fmla="*/ 3178309 h 3178309"/>
              <a:gd name="connsiteX29" fmla="*/ 2560623 w 8806375"/>
              <a:gd name="connsiteY29" fmla="*/ 3178309 h 3178309"/>
              <a:gd name="connsiteX30" fmla="*/ 1795146 w 8806375"/>
              <a:gd name="connsiteY30" fmla="*/ 3178309 h 3178309"/>
              <a:gd name="connsiteX31" fmla="*/ 1381923 w 8806375"/>
              <a:gd name="connsiteY31" fmla="*/ 3178309 h 3178309"/>
              <a:gd name="connsiteX32" fmla="*/ 968701 w 8806375"/>
              <a:gd name="connsiteY32" fmla="*/ 3178309 h 3178309"/>
              <a:gd name="connsiteX33" fmla="*/ 0 w 8806375"/>
              <a:gd name="connsiteY33" fmla="*/ 3178309 h 3178309"/>
              <a:gd name="connsiteX34" fmla="*/ 0 w 8806375"/>
              <a:gd name="connsiteY34" fmla="*/ 2574430 h 3178309"/>
              <a:gd name="connsiteX35" fmla="*/ 0 w 8806375"/>
              <a:gd name="connsiteY35" fmla="*/ 2034118 h 3178309"/>
              <a:gd name="connsiteX36" fmla="*/ 0 w 8806375"/>
              <a:gd name="connsiteY36" fmla="*/ 1366673 h 3178309"/>
              <a:gd name="connsiteX37" fmla="*/ 0 w 8806375"/>
              <a:gd name="connsiteY37" fmla="*/ 826360 h 3178309"/>
              <a:gd name="connsiteX38" fmla="*/ 0 w 8806375"/>
              <a:gd name="connsiteY38" fmla="*/ 0 h 317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806375" h="3178309" fill="none" extrusionOk="0">
                <a:moveTo>
                  <a:pt x="0" y="0"/>
                </a:moveTo>
                <a:cubicBezTo>
                  <a:pt x="251963" y="-20699"/>
                  <a:pt x="340817" y="-13319"/>
                  <a:pt x="589350" y="0"/>
                </a:cubicBezTo>
                <a:cubicBezTo>
                  <a:pt x="837883" y="13319"/>
                  <a:pt x="1024624" y="-2037"/>
                  <a:pt x="1178699" y="0"/>
                </a:cubicBezTo>
                <a:cubicBezTo>
                  <a:pt x="1332774" y="2037"/>
                  <a:pt x="1497906" y="-17065"/>
                  <a:pt x="1679985" y="0"/>
                </a:cubicBezTo>
                <a:cubicBezTo>
                  <a:pt x="1862064" y="17065"/>
                  <a:pt x="2001982" y="70"/>
                  <a:pt x="2181271" y="0"/>
                </a:cubicBezTo>
                <a:cubicBezTo>
                  <a:pt x="2360560" y="-70"/>
                  <a:pt x="2781737" y="32624"/>
                  <a:pt x="3034812" y="0"/>
                </a:cubicBezTo>
                <a:cubicBezTo>
                  <a:pt x="3287887" y="-32624"/>
                  <a:pt x="3638667" y="-9016"/>
                  <a:pt x="3800290" y="0"/>
                </a:cubicBezTo>
                <a:cubicBezTo>
                  <a:pt x="3961913" y="9016"/>
                  <a:pt x="4142503" y="11151"/>
                  <a:pt x="4389639" y="0"/>
                </a:cubicBezTo>
                <a:cubicBezTo>
                  <a:pt x="4636775" y="-11151"/>
                  <a:pt x="4816409" y="-16503"/>
                  <a:pt x="5067053" y="0"/>
                </a:cubicBezTo>
                <a:cubicBezTo>
                  <a:pt x="5317697" y="16503"/>
                  <a:pt x="5356686" y="18435"/>
                  <a:pt x="5568339" y="0"/>
                </a:cubicBezTo>
                <a:cubicBezTo>
                  <a:pt x="5779992" y="-18435"/>
                  <a:pt x="6023289" y="18641"/>
                  <a:pt x="6245752" y="0"/>
                </a:cubicBezTo>
                <a:cubicBezTo>
                  <a:pt x="6468215" y="-18641"/>
                  <a:pt x="6762737" y="8896"/>
                  <a:pt x="7011229" y="0"/>
                </a:cubicBezTo>
                <a:cubicBezTo>
                  <a:pt x="7259721" y="-8896"/>
                  <a:pt x="7247392" y="6374"/>
                  <a:pt x="7424452" y="0"/>
                </a:cubicBezTo>
                <a:cubicBezTo>
                  <a:pt x="7601512" y="-6374"/>
                  <a:pt x="7691268" y="-3050"/>
                  <a:pt x="7837674" y="0"/>
                </a:cubicBezTo>
                <a:cubicBezTo>
                  <a:pt x="7984080" y="3050"/>
                  <a:pt x="8569968" y="-25438"/>
                  <a:pt x="8806375" y="0"/>
                </a:cubicBezTo>
                <a:cubicBezTo>
                  <a:pt x="8807236" y="136132"/>
                  <a:pt x="8789644" y="356219"/>
                  <a:pt x="8806375" y="572096"/>
                </a:cubicBezTo>
                <a:cubicBezTo>
                  <a:pt x="8823106" y="787973"/>
                  <a:pt x="8838950" y="1026369"/>
                  <a:pt x="8806375" y="1239541"/>
                </a:cubicBezTo>
                <a:cubicBezTo>
                  <a:pt x="8773800" y="1452713"/>
                  <a:pt x="8778251" y="1592546"/>
                  <a:pt x="8806375" y="1906985"/>
                </a:cubicBezTo>
                <a:cubicBezTo>
                  <a:pt x="8834499" y="2221424"/>
                  <a:pt x="8779879" y="2276122"/>
                  <a:pt x="8806375" y="2447298"/>
                </a:cubicBezTo>
                <a:cubicBezTo>
                  <a:pt x="8832871" y="2618474"/>
                  <a:pt x="8833187" y="2922595"/>
                  <a:pt x="8806375" y="3178309"/>
                </a:cubicBezTo>
                <a:cubicBezTo>
                  <a:pt x="8572883" y="3157305"/>
                  <a:pt x="8524806" y="3190466"/>
                  <a:pt x="8305089" y="3178309"/>
                </a:cubicBezTo>
                <a:cubicBezTo>
                  <a:pt x="8085372" y="3166152"/>
                  <a:pt x="7943401" y="3191928"/>
                  <a:pt x="7627676" y="3178309"/>
                </a:cubicBezTo>
                <a:cubicBezTo>
                  <a:pt x="7311951" y="3164690"/>
                  <a:pt x="6998208" y="3205552"/>
                  <a:pt x="6774135" y="3178309"/>
                </a:cubicBezTo>
                <a:cubicBezTo>
                  <a:pt x="6550062" y="3151066"/>
                  <a:pt x="6239227" y="3185693"/>
                  <a:pt x="6096721" y="3178309"/>
                </a:cubicBezTo>
                <a:cubicBezTo>
                  <a:pt x="5954215" y="3170925"/>
                  <a:pt x="5820299" y="3159855"/>
                  <a:pt x="5683499" y="3178309"/>
                </a:cubicBezTo>
                <a:cubicBezTo>
                  <a:pt x="5546699" y="3196763"/>
                  <a:pt x="5362990" y="3171420"/>
                  <a:pt x="5094149" y="3178309"/>
                </a:cubicBezTo>
                <a:cubicBezTo>
                  <a:pt x="4825308" y="3185199"/>
                  <a:pt x="4734368" y="3176672"/>
                  <a:pt x="4504800" y="3178309"/>
                </a:cubicBezTo>
                <a:cubicBezTo>
                  <a:pt x="4275232" y="3179946"/>
                  <a:pt x="4143808" y="3161042"/>
                  <a:pt x="3827386" y="3178309"/>
                </a:cubicBezTo>
                <a:cubicBezTo>
                  <a:pt x="3510964" y="3195576"/>
                  <a:pt x="3529542" y="3194105"/>
                  <a:pt x="3414164" y="3178309"/>
                </a:cubicBezTo>
                <a:cubicBezTo>
                  <a:pt x="3298786" y="3162513"/>
                  <a:pt x="2893774" y="3202374"/>
                  <a:pt x="2560623" y="3178309"/>
                </a:cubicBezTo>
                <a:cubicBezTo>
                  <a:pt x="2227472" y="3154244"/>
                  <a:pt x="2059277" y="3184904"/>
                  <a:pt x="1795146" y="3178309"/>
                </a:cubicBezTo>
                <a:cubicBezTo>
                  <a:pt x="1531015" y="3171714"/>
                  <a:pt x="1472147" y="3174117"/>
                  <a:pt x="1381923" y="3178309"/>
                </a:cubicBezTo>
                <a:cubicBezTo>
                  <a:pt x="1291699" y="3182501"/>
                  <a:pt x="1164891" y="3162972"/>
                  <a:pt x="968701" y="3178309"/>
                </a:cubicBezTo>
                <a:cubicBezTo>
                  <a:pt x="772511" y="3193646"/>
                  <a:pt x="444619" y="3147521"/>
                  <a:pt x="0" y="3178309"/>
                </a:cubicBezTo>
                <a:cubicBezTo>
                  <a:pt x="-24300" y="2971856"/>
                  <a:pt x="-6066" y="2864004"/>
                  <a:pt x="0" y="2574430"/>
                </a:cubicBezTo>
                <a:cubicBezTo>
                  <a:pt x="6066" y="2284856"/>
                  <a:pt x="-20280" y="2181679"/>
                  <a:pt x="0" y="2034118"/>
                </a:cubicBezTo>
                <a:cubicBezTo>
                  <a:pt x="20280" y="1886557"/>
                  <a:pt x="-18860" y="1688623"/>
                  <a:pt x="0" y="1366673"/>
                </a:cubicBezTo>
                <a:cubicBezTo>
                  <a:pt x="18860" y="1044723"/>
                  <a:pt x="-26671" y="938572"/>
                  <a:pt x="0" y="826360"/>
                </a:cubicBezTo>
                <a:cubicBezTo>
                  <a:pt x="26671" y="714148"/>
                  <a:pt x="20867" y="384205"/>
                  <a:pt x="0" y="0"/>
                </a:cubicBezTo>
                <a:close/>
              </a:path>
              <a:path w="8806375" h="3178309" stroke="0" extrusionOk="0">
                <a:moveTo>
                  <a:pt x="0" y="0"/>
                </a:moveTo>
                <a:cubicBezTo>
                  <a:pt x="255487" y="-11412"/>
                  <a:pt x="471347" y="-10127"/>
                  <a:pt x="589350" y="0"/>
                </a:cubicBezTo>
                <a:cubicBezTo>
                  <a:pt x="707353" y="10127"/>
                  <a:pt x="1053537" y="15387"/>
                  <a:pt x="1178699" y="0"/>
                </a:cubicBezTo>
                <a:cubicBezTo>
                  <a:pt x="1303861" y="-15387"/>
                  <a:pt x="1729256" y="40876"/>
                  <a:pt x="2032240" y="0"/>
                </a:cubicBezTo>
                <a:cubicBezTo>
                  <a:pt x="2335224" y="-40876"/>
                  <a:pt x="2578526" y="-25606"/>
                  <a:pt x="2885781" y="0"/>
                </a:cubicBezTo>
                <a:cubicBezTo>
                  <a:pt x="3193036" y="25606"/>
                  <a:pt x="3370680" y="-27278"/>
                  <a:pt x="3563195" y="0"/>
                </a:cubicBezTo>
                <a:cubicBezTo>
                  <a:pt x="3755710" y="27278"/>
                  <a:pt x="4239134" y="-35962"/>
                  <a:pt x="4416736" y="0"/>
                </a:cubicBezTo>
                <a:cubicBezTo>
                  <a:pt x="4594338" y="35962"/>
                  <a:pt x="4913470" y="1652"/>
                  <a:pt x="5182213" y="0"/>
                </a:cubicBezTo>
                <a:cubicBezTo>
                  <a:pt x="5450956" y="-1652"/>
                  <a:pt x="5568589" y="-28104"/>
                  <a:pt x="5947690" y="0"/>
                </a:cubicBezTo>
                <a:cubicBezTo>
                  <a:pt x="6326791" y="28104"/>
                  <a:pt x="6248202" y="13083"/>
                  <a:pt x="6360912" y="0"/>
                </a:cubicBezTo>
                <a:cubicBezTo>
                  <a:pt x="6473622" y="-13083"/>
                  <a:pt x="6854632" y="-8167"/>
                  <a:pt x="7126390" y="0"/>
                </a:cubicBezTo>
                <a:cubicBezTo>
                  <a:pt x="7398148" y="8167"/>
                  <a:pt x="7415891" y="-10711"/>
                  <a:pt x="7539612" y="0"/>
                </a:cubicBezTo>
                <a:cubicBezTo>
                  <a:pt x="7663333" y="10711"/>
                  <a:pt x="7815163" y="-23939"/>
                  <a:pt x="8040898" y="0"/>
                </a:cubicBezTo>
                <a:cubicBezTo>
                  <a:pt x="8266633" y="23939"/>
                  <a:pt x="8562930" y="19652"/>
                  <a:pt x="8806375" y="0"/>
                </a:cubicBezTo>
                <a:cubicBezTo>
                  <a:pt x="8837418" y="311855"/>
                  <a:pt x="8816906" y="319822"/>
                  <a:pt x="8806375" y="635662"/>
                </a:cubicBezTo>
                <a:cubicBezTo>
                  <a:pt x="8795844" y="951502"/>
                  <a:pt x="8813546" y="1067413"/>
                  <a:pt x="8806375" y="1334890"/>
                </a:cubicBezTo>
                <a:cubicBezTo>
                  <a:pt x="8799204" y="1602367"/>
                  <a:pt x="8829872" y="1703272"/>
                  <a:pt x="8806375" y="2002335"/>
                </a:cubicBezTo>
                <a:cubicBezTo>
                  <a:pt x="8782878" y="2301399"/>
                  <a:pt x="8802144" y="2875689"/>
                  <a:pt x="8806375" y="3178309"/>
                </a:cubicBezTo>
                <a:cubicBezTo>
                  <a:pt x="8651775" y="3211866"/>
                  <a:pt x="8325972" y="3213388"/>
                  <a:pt x="8040898" y="3178309"/>
                </a:cubicBezTo>
                <a:cubicBezTo>
                  <a:pt x="7755824" y="3143230"/>
                  <a:pt x="7560189" y="3181571"/>
                  <a:pt x="7275421" y="3178309"/>
                </a:cubicBezTo>
                <a:cubicBezTo>
                  <a:pt x="6990653" y="3175047"/>
                  <a:pt x="6963302" y="3174491"/>
                  <a:pt x="6862198" y="3178309"/>
                </a:cubicBezTo>
                <a:cubicBezTo>
                  <a:pt x="6761094" y="3182127"/>
                  <a:pt x="6596367" y="3166920"/>
                  <a:pt x="6448976" y="3178309"/>
                </a:cubicBezTo>
                <a:cubicBezTo>
                  <a:pt x="6301585" y="3189698"/>
                  <a:pt x="6046076" y="3207797"/>
                  <a:pt x="5683499" y="3178309"/>
                </a:cubicBezTo>
                <a:cubicBezTo>
                  <a:pt x="5320922" y="3148821"/>
                  <a:pt x="5451959" y="3162365"/>
                  <a:pt x="5270277" y="3178309"/>
                </a:cubicBezTo>
                <a:cubicBezTo>
                  <a:pt x="5088595" y="3194253"/>
                  <a:pt x="5039014" y="3161522"/>
                  <a:pt x="4857055" y="3178309"/>
                </a:cubicBezTo>
                <a:cubicBezTo>
                  <a:pt x="4675096" y="3195096"/>
                  <a:pt x="4536905" y="3200200"/>
                  <a:pt x="4355769" y="3178309"/>
                </a:cubicBezTo>
                <a:cubicBezTo>
                  <a:pt x="4174633" y="3156418"/>
                  <a:pt x="3939374" y="3180780"/>
                  <a:pt x="3678355" y="3178309"/>
                </a:cubicBezTo>
                <a:cubicBezTo>
                  <a:pt x="3417336" y="3175838"/>
                  <a:pt x="3247794" y="3186962"/>
                  <a:pt x="3089005" y="3178309"/>
                </a:cubicBezTo>
                <a:cubicBezTo>
                  <a:pt x="2930216" y="3169657"/>
                  <a:pt x="2868019" y="3170136"/>
                  <a:pt x="2675783" y="3178309"/>
                </a:cubicBezTo>
                <a:cubicBezTo>
                  <a:pt x="2483547" y="3186482"/>
                  <a:pt x="2277636" y="3177753"/>
                  <a:pt x="2174497" y="3178309"/>
                </a:cubicBezTo>
                <a:cubicBezTo>
                  <a:pt x="2071358" y="3178865"/>
                  <a:pt x="1831628" y="3180712"/>
                  <a:pt x="1497084" y="3178309"/>
                </a:cubicBezTo>
                <a:cubicBezTo>
                  <a:pt x="1162540" y="3175906"/>
                  <a:pt x="1088115" y="3147977"/>
                  <a:pt x="731607" y="3178309"/>
                </a:cubicBezTo>
                <a:cubicBezTo>
                  <a:pt x="375099" y="3208641"/>
                  <a:pt x="269689" y="3145601"/>
                  <a:pt x="0" y="3178309"/>
                </a:cubicBezTo>
                <a:cubicBezTo>
                  <a:pt x="-20360" y="2954975"/>
                  <a:pt x="4617" y="2786270"/>
                  <a:pt x="0" y="2479081"/>
                </a:cubicBezTo>
                <a:cubicBezTo>
                  <a:pt x="-4617" y="2171892"/>
                  <a:pt x="29610" y="2018790"/>
                  <a:pt x="0" y="1843419"/>
                </a:cubicBezTo>
                <a:cubicBezTo>
                  <a:pt x="-29610" y="1668048"/>
                  <a:pt x="9736" y="1408474"/>
                  <a:pt x="0" y="1271324"/>
                </a:cubicBezTo>
                <a:cubicBezTo>
                  <a:pt x="-9736" y="1134175"/>
                  <a:pt x="21265" y="869063"/>
                  <a:pt x="0" y="699228"/>
                </a:cubicBezTo>
                <a:cubicBezTo>
                  <a:pt x="-21265" y="529393"/>
                  <a:pt x="-15421" y="255619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09354305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3413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Overview: 5-Service Cloud-Native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1572768" cy="131673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1572768" cy="2926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04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1704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691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Interface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627632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11680" y="804672"/>
            <a:ext cx="1572768" cy="131673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011680" y="804672"/>
            <a:ext cx="1572768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011680" y="804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11704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84832" y="1691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627632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730752" y="804672"/>
            <a:ext cx="1572768" cy="131673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730752" y="804672"/>
            <a:ext cx="15727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730752" y="804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Worker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1170432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03904" y="1691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Orchestrator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1627632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449824" y="804672"/>
            <a:ext cx="1572768" cy="131673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449824" y="804672"/>
            <a:ext cx="1572768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449824" y="804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08" y="1170432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522976" y="1691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Store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1627632"/>
            <a:ext cx="237744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168896" y="804672"/>
            <a:ext cx="1572768" cy="1316736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7168896" y="804672"/>
            <a:ext cx="15727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7168896" y="804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1170432"/>
            <a:ext cx="457200" cy="4572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242048" y="16916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Data Lake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292608" y="2229026"/>
            <a:ext cx="8558784" cy="274320"/>
          </a:xfrm>
          <a:prstGeom prst="rect">
            <a:avLst/>
          </a:prstGeom>
          <a:solidFill>
            <a:srgbClr val="1E25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292608" y="2229026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Cloud-Portable: same images deploy to Huawei Cloud Stack  |  Docker → ECS · MinIO → OBS · PostgreSQL → RDS · VPC · ELB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292608" y="3200400"/>
            <a:ext cx="4160520" cy="1755648"/>
          </a:xfrm>
          <a:prstGeom prst="rect">
            <a:avLst/>
          </a:prstGeom>
          <a:solidFill>
            <a:srgbClr val="0A0D14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37" name="Shape 26"/>
          <p:cNvSpPr/>
          <p:nvPr/>
        </p:nvSpPr>
        <p:spPr>
          <a:xfrm>
            <a:off x="292608" y="320040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4343400" y="320040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292608" y="484632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4343400" y="484632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29768" y="387705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 #2 — Container Architecture ]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4645152" y="3200400"/>
            <a:ext cx="4206240" cy="1755648"/>
          </a:xfrm>
          <a:prstGeom prst="rect">
            <a:avLst/>
          </a:prstGeom>
          <a:solidFill>
            <a:srgbClr val="0A0D14"/>
          </a:solidFill>
          <a:ln w="19050">
            <a:solidFill>
              <a:srgbClr val="2E86AB"/>
            </a:solidFill>
            <a:prstDash val="dash"/>
          </a:ln>
        </p:spPr>
      </p:sp>
      <p:sp>
        <p:nvSpPr>
          <p:cNvPr id="43" name="Shape 32"/>
          <p:cNvSpPr/>
          <p:nvPr/>
        </p:nvSpPr>
        <p:spPr>
          <a:xfrm>
            <a:off x="4645152" y="3200400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741664" y="3200400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4645152" y="4846320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8741664" y="4846320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4782312" y="38770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 #8 — HCS Mapping ]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D55C23F-E655-D31C-236A-ADB2B6A1C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888" y="2571750"/>
            <a:ext cx="4206240" cy="2434590"/>
          </a:xfrm>
          <a:custGeom>
            <a:avLst/>
            <a:gdLst>
              <a:gd name="connsiteX0" fmla="*/ 0 w 4206240"/>
              <a:gd name="connsiteY0" fmla="*/ 0 h 2434590"/>
              <a:gd name="connsiteX1" fmla="*/ 516767 w 4206240"/>
              <a:gd name="connsiteY1" fmla="*/ 0 h 2434590"/>
              <a:gd name="connsiteX2" fmla="*/ 1117658 w 4206240"/>
              <a:gd name="connsiteY2" fmla="*/ 0 h 2434590"/>
              <a:gd name="connsiteX3" fmla="*/ 1634425 w 4206240"/>
              <a:gd name="connsiteY3" fmla="*/ 0 h 2434590"/>
              <a:gd name="connsiteX4" fmla="*/ 2109129 w 4206240"/>
              <a:gd name="connsiteY4" fmla="*/ 0 h 2434590"/>
              <a:gd name="connsiteX5" fmla="*/ 2583833 w 4206240"/>
              <a:gd name="connsiteY5" fmla="*/ 0 h 2434590"/>
              <a:gd name="connsiteX6" fmla="*/ 3268849 w 4206240"/>
              <a:gd name="connsiteY6" fmla="*/ 0 h 2434590"/>
              <a:gd name="connsiteX7" fmla="*/ 4206240 w 4206240"/>
              <a:gd name="connsiteY7" fmla="*/ 0 h 2434590"/>
              <a:gd name="connsiteX8" fmla="*/ 4206240 w 4206240"/>
              <a:gd name="connsiteY8" fmla="*/ 535610 h 2434590"/>
              <a:gd name="connsiteX9" fmla="*/ 4206240 w 4206240"/>
              <a:gd name="connsiteY9" fmla="*/ 1168603 h 2434590"/>
              <a:gd name="connsiteX10" fmla="*/ 4206240 w 4206240"/>
              <a:gd name="connsiteY10" fmla="*/ 1825943 h 2434590"/>
              <a:gd name="connsiteX11" fmla="*/ 4206240 w 4206240"/>
              <a:gd name="connsiteY11" fmla="*/ 2434590 h 2434590"/>
              <a:gd name="connsiteX12" fmla="*/ 3605349 w 4206240"/>
              <a:gd name="connsiteY12" fmla="*/ 2434590 h 2434590"/>
              <a:gd name="connsiteX13" fmla="*/ 2920332 w 4206240"/>
              <a:gd name="connsiteY13" fmla="*/ 2434590 h 2434590"/>
              <a:gd name="connsiteX14" fmla="*/ 2445628 w 4206240"/>
              <a:gd name="connsiteY14" fmla="*/ 2434590 h 2434590"/>
              <a:gd name="connsiteX15" fmla="*/ 1760612 w 4206240"/>
              <a:gd name="connsiteY15" fmla="*/ 2434590 h 2434590"/>
              <a:gd name="connsiteX16" fmla="*/ 1201783 w 4206240"/>
              <a:gd name="connsiteY16" fmla="*/ 2434590 h 2434590"/>
              <a:gd name="connsiteX17" fmla="*/ 642954 w 4206240"/>
              <a:gd name="connsiteY17" fmla="*/ 2434590 h 2434590"/>
              <a:gd name="connsiteX18" fmla="*/ 0 w 4206240"/>
              <a:gd name="connsiteY18" fmla="*/ 2434590 h 2434590"/>
              <a:gd name="connsiteX19" fmla="*/ 0 w 4206240"/>
              <a:gd name="connsiteY19" fmla="*/ 1898980 h 2434590"/>
              <a:gd name="connsiteX20" fmla="*/ 0 w 4206240"/>
              <a:gd name="connsiteY20" fmla="*/ 1314679 h 2434590"/>
              <a:gd name="connsiteX21" fmla="*/ 0 w 4206240"/>
              <a:gd name="connsiteY21" fmla="*/ 681685 h 2434590"/>
              <a:gd name="connsiteX22" fmla="*/ 0 w 4206240"/>
              <a:gd name="connsiteY22" fmla="*/ 0 h 2434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206240" h="2434590" fill="none" extrusionOk="0">
                <a:moveTo>
                  <a:pt x="0" y="0"/>
                </a:moveTo>
                <a:cubicBezTo>
                  <a:pt x="120498" y="12564"/>
                  <a:pt x="317316" y="14026"/>
                  <a:pt x="516767" y="0"/>
                </a:cubicBezTo>
                <a:cubicBezTo>
                  <a:pt x="716218" y="-14026"/>
                  <a:pt x="922655" y="-24714"/>
                  <a:pt x="1117658" y="0"/>
                </a:cubicBezTo>
                <a:cubicBezTo>
                  <a:pt x="1312661" y="24714"/>
                  <a:pt x="1463106" y="23312"/>
                  <a:pt x="1634425" y="0"/>
                </a:cubicBezTo>
                <a:cubicBezTo>
                  <a:pt x="1805744" y="-23312"/>
                  <a:pt x="1887848" y="5690"/>
                  <a:pt x="2109129" y="0"/>
                </a:cubicBezTo>
                <a:cubicBezTo>
                  <a:pt x="2330410" y="-5690"/>
                  <a:pt x="2398600" y="17610"/>
                  <a:pt x="2583833" y="0"/>
                </a:cubicBezTo>
                <a:cubicBezTo>
                  <a:pt x="2769066" y="-17610"/>
                  <a:pt x="2931216" y="14575"/>
                  <a:pt x="3268849" y="0"/>
                </a:cubicBezTo>
                <a:cubicBezTo>
                  <a:pt x="3606482" y="-14575"/>
                  <a:pt x="3940489" y="-14766"/>
                  <a:pt x="4206240" y="0"/>
                </a:cubicBezTo>
                <a:cubicBezTo>
                  <a:pt x="4187368" y="108083"/>
                  <a:pt x="4210358" y="354468"/>
                  <a:pt x="4206240" y="535610"/>
                </a:cubicBezTo>
                <a:cubicBezTo>
                  <a:pt x="4202123" y="716752"/>
                  <a:pt x="4192969" y="1037356"/>
                  <a:pt x="4206240" y="1168603"/>
                </a:cubicBezTo>
                <a:cubicBezTo>
                  <a:pt x="4219511" y="1299850"/>
                  <a:pt x="4216572" y="1505234"/>
                  <a:pt x="4206240" y="1825943"/>
                </a:cubicBezTo>
                <a:cubicBezTo>
                  <a:pt x="4195908" y="2146652"/>
                  <a:pt x="4216900" y="2136805"/>
                  <a:pt x="4206240" y="2434590"/>
                </a:cubicBezTo>
                <a:cubicBezTo>
                  <a:pt x="3974657" y="2414138"/>
                  <a:pt x="3782840" y="2423752"/>
                  <a:pt x="3605349" y="2434590"/>
                </a:cubicBezTo>
                <a:cubicBezTo>
                  <a:pt x="3427858" y="2445428"/>
                  <a:pt x="3127375" y="2449451"/>
                  <a:pt x="2920332" y="2434590"/>
                </a:cubicBezTo>
                <a:cubicBezTo>
                  <a:pt x="2713289" y="2419729"/>
                  <a:pt x="2589331" y="2448632"/>
                  <a:pt x="2445628" y="2434590"/>
                </a:cubicBezTo>
                <a:cubicBezTo>
                  <a:pt x="2301925" y="2420548"/>
                  <a:pt x="1945249" y="2412727"/>
                  <a:pt x="1760612" y="2434590"/>
                </a:cubicBezTo>
                <a:cubicBezTo>
                  <a:pt x="1575975" y="2456453"/>
                  <a:pt x="1395838" y="2453909"/>
                  <a:pt x="1201783" y="2434590"/>
                </a:cubicBezTo>
                <a:cubicBezTo>
                  <a:pt x="1007728" y="2415271"/>
                  <a:pt x="882604" y="2437875"/>
                  <a:pt x="642954" y="2434590"/>
                </a:cubicBezTo>
                <a:cubicBezTo>
                  <a:pt x="403304" y="2431305"/>
                  <a:pt x="165334" y="2438816"/>
                  <a:pt x="0" y="2434590"/>
                </a:cubicBezTo>
                <a:cubicBezTo>
                  <a:pt x="-15637" y="2309010"/>
                  <a:pt x="-26666" y="2129169"/>
                  <a:pt x="0" y="1898980"/>
                </a:cubicBezTo>
                <a:cubicBezTo>
                  <a:pt x="26666" y="1668791"/>
                  <a:pt x="4181" y="1483299"/>
                  <a:pt x="0" y="1314679"/>
                </a:cubicBezTo>
                <a:cubicBezTo>
                  <a:pt x="-4181" y="1146059"/>
                  <a:pt x="4595" y="901899"/>
                  <a:pt x="0" y="681685"/>
                </a:cubicBezTo>
                <a:cubicBezTo>
                  <a:pt x="-4595" y="461471"/>
                  <a:pt x="-3825" y="317751"/>
                  <a:pt x="0" y="0"/>
                </a:cubicBezTo>
                <a:close/>
              </a:path>
              <a:path w="4206240" h="2434590" stroke="0" extrusionOk="0">
                <a:moveTo>
                  <a:pt x="0" y="0"/>
                </a:moveTo>
                <a:cubicBezTo>
                  <a:pt x="287125" y="-29158"/>
                  <a:pt x="494520" y="27954"/>
                  <a:pt x="642954" y="0"/>
                </a:cubicBezTo>
                <a:cubicBezTo>
                  <a:pt x="791388" y="-27954"/>
                  <a:pt x="1067179" y="23510"/>
                  <a:pt x="1201783" y="0"/>
                </a:cubicBezTo>
                <a:cubicBezTo>
                  <a:pt x="1336387" y="-23510"/>
                  <a:pt x="1561997" y="16004"/>
                  <a:pt x="1676487" y="0"/>
                </a:cubicBezTo>
                <a:cubicBezTo>
                  <a:pt x="1790977" y="-16004"/>
                  <a:pt x="2110992" y="-5619"/>
                  <a:pt x="2235316" y="0"/>
                </a:cubicBezTo>
                <a:cubicBezTo>
                  <a:pt x="2359640" y="5619"/>
                  <a:pt x="2561301" y="16461"/>
                  <a:pt x="2710020" y="0"/>
                </a:cubicBezTo>
                <a:cubicBezTo>
                  <a:pt x="2858739" y="-16461"/>
                  <a:pt x="3039792" y="23942"/>
                  <a:pt x="3352974" y="0"/>
                </a:cubicBezTo>
                <a:cubicBezTo>
                  <a:pt x="3666156" y="-23942"/>
                  <a:pt x="3784614" y="33762"/>
                  <a:pt x="4206240" y="0"/>
                </a:cubicBezTo>
                <a:cubicBezTo>
                  <a:pt x="4231117" y="264081"/>
                  <a:pt x="4190393" y="398995"/>
                  <a:pt x="4206240" y="584302"/>
                </a:cubicBezTo>
                <a:cubicBezTo>
                  <a:pt x="4222087" y="769609"/>
                  <a:pt x="4181429" y="884703"/>
                  <a:pt x="4206240" y="1144257"/>
                </a:cubicBezTo>
                <a:cubicBezTo>
                  <a:pt x="4231051" y="1403812"/>
                  <a:pt x="4182107" y="1650582"/>
                  <a:pt x="4206240" y="1777251"/>
                </a:cubicBezTo>
                <a:cubicBezTo>
                  <a:pt x="4230373" y="1903920"/>
                  <a:pt x="4173905" y="2217207"/>
                  <a:pt x="4206240" y="2434590"/>
                </a:cubicBezTo>
                <a:cubicBezTo>
                  <a:pt x="4019318" y="2436971"/>
                  <a:pt x="3895590" y="2417785"/>
                  <a:pt x="3689473" y="2434590"/>
                </a:cubicBezTo>
                <a:cubicBezTo>
                  <a:pt x="3483356" y="2451395"/>
                  <a:pt x="3309313" y="2466520"/>
                  <a:pt x="3046520" y="2434590"/>
                </a:cubicBezTo>
                <a:cubicBezTo>
                  <a:pt x="2783727" y="2402660"/>
                  <a:pt x="2642000" y="2414235"/>
                  <a:pt x="2487691" y="2434590"/>
                </a:cubicBezTo>
                <a:cubicBezTo>
                  <a:pt x="2333382" y="2454945"/>
                  <a:pt x="2166033" y="2420782"/>
                  <a:pt x="1844737" y="2434590"/>
                </a:cubicBezTo>
                <a:cubicBezTo>
                  <a:pt x="1523441" y="2448398"/>
                  <a:pt x="1490285" y="2449766"/>
                  <a:pt x="1285908" y="2434590"/>
                </a:cubicBezTo>
                <a:cubicBezTo>
                  <a:pt x="1081531" y="2419414"/>
                  <a:pt x="940770" y="2420937"/>
                  <a:pt x="811203" y="2434590"/>
                </a:cubicBezTo>
                <a:cubicBezTo>
                  <a:pt x="681637" y="2448243"/>
                  <a:pt x="321525" y="2453798"/>
                  <a:pt x="0" y="2434590"/>
                </a:cubicBezTo>
                <a:cubicBezTo>
                  <a:pt x="31512" y="2199422"/>
                  <a:pt x="-9667" y="2065448"/>
                  <a:pt x="0" y="1777251"/>
                </a:cubicBezTo>
                <a:cubicBezTo>
                  <a:pt x="9667" y="1489054"/>
                  <a:pt x="1652" y="1380884"/>
                  <a:pt x="0" y="1168603"/>
                </a:cubicBezTo>
                <a:cubicBezTo>
                  <a:pt x="-1652" y="956322"/>
                  <a:pt x="-16680" y="55510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7188625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15C22EF-C990-C5F8-CD92-B0528930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728" y="2571750"/>
            <a:ext cx="4453087" cy="2434590"/>
          </a:xfrm>
          <a:custGeom>
            <a:avLst/>
            <a:gdLst>
              <a:gd name="connsiteX0" fmla="*/ 0 w 4453087"/>
              <a:gd name="connsiteY0" fmla="*/ 0 h 2434590"/>
              <a:gd name="connsiteX1" fmla="*/ 502563 w 4453087"/>
              <a:gd name="connsiteY1" fmla="*/ 0 h 2434590"/>
              <a:gd name="connsiteX2" fmla="*/ 1227780 w 4453087"/>
              <a:gd name="connsiteY2" fmla="*/ 0 h 2434590"/>
              <a:gd name="connsiteX3" fmla="*/ 1730342 w 4453087"/>
              <a:gd name="connsiteY3" fmla="*/ 0 h 2434590"/>
              <a:gd name="connsiteX4" fmla="*/ 2411029 w 4453087"/>
              <a:gd name="connsiteY4" fmla="*/ 0 h 2434590"/>
              <a:gd name="connsiteX5" fmla="*/ 2913591 w 4453087"/>
              <a:gd name="connsiteY5" fmla="*/ 0 h 2434590"/>
              <a:gd name="connsiteX6" fmla="*/ 3416154 w 4453087"/>
              <a:gd name="connsiteY6" fmla="*/ 0 h 2434590"/>
              <a:gd name="connsiteX7" fmla="*/ 4453087 w 4453087"/>
              <a:gd name="connsiteY7" fmla="*/ 0 h 2434590"/>
              <a:gd name="connsiteX8" fmla="*/ 4453087 w 4453087"/>
              <a:gd name="connsiteY8" fmla="*/ 584302 h 2434590"/>
              <a:gd name="connsiteX9" fmla="*/ 4453087 w 4453087"/>
              <a:gd name="connsiteY9" fmla="*/ 1119911 h 2434590"/>
              <a:gd name="connsiteX10" fmla="*/ 4453087 w 4453087"/>
              <a:gd name="connsiteY10" fmla="*/ 1777251 h 2434590"/>
              <a:gd name="connsiteX11" fmla="*/ 4453087 w 4453087"/>
              <a:gd name="connsiteY11" fmla="*/ 2434590 h 2434590"/>
              <a:gd name="connsiteX12" fmla="*/ 3772401 w 4453087"/>
              <a:gd name="connsiteY12" fmla="*/ 2434590 h 2434590"/>
              <a:gd name="connsiteX13" fmla="*/ 3136246 w 4453087"/>
              <a:gd name="connsiteY13" fmla="*/ 2434590 h 2434590"/>
              <a:gd name="connsiteX14" fmla="*/ 2589152 w 4453087"/>
              <a:gd name="connsiteY14" fmla="*/ 2434590 h 2434590"/>
              <a:gd name="connsiteX15" fmla="*/ 1997528 w 4453087"/>
              <a:gd name="connsiteY15" fmla="*/ 2434590 h 2434590"/>
              <a:gd name="connsiteX16" fmla="*/ 1494965 w 4453087"/>
              <a:gd name="connsiteY16" fmla="*/ 2434590 h 2434590"/>
              <a:gd name="connsiteX17" fmla="*/ 903341 w 4453087"/>
              <a:gd name="connsiteY17" fmla="*/ 2434590 h 2434590"/>
              <a:gd name="connsiteX18" fmla="*/ 0 w 4453087"/>
              <a:gd name="connsiteY18" fmla="*/ 2434590 h 2434590"/>
              <a:gd name="connsiteX19" fmla="*/ 0 w 4453087"/>
              <a:gd name="connsiteY19" fmla="*/ 1801597 h 2434590"/>
              <a:gd name="connsiteX20" fmla="*/ 0 w 4453087"/>
              <a:gd name="connsiteY20" fmla="*/ 1144257 h 2434590"/>
              <a:gd name="connsiteX21" fmla="*/ 0 w 4453087"/>
              <a:gd name="connsiteY21" fmla="*/ 559956 h 2434590"/>
              <a:gd name="connsiteX22" fmla="*/ 0 w 4453087"/>
              <a:gd name="connsiteY22" fmla="*/ 0 h 2434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453087" h="2434590" fill="none" extrusionOk="0">
                <a:moveTo>
                  <a:pt x="0" y="0"/>
                </a:moveTo>
                <a:cubicBezTo>
                  <a:pt x="116637" y="-5369"/>
                  <a:pt x="322707" y="-21816"/>
                  <a:pt x="502563" y="0"/>
                </a:cubicBezTo>
                <a:cubicBezTo>
                  <a:pt x="682419" y="21816"/>
                  <a:pt x="950143" y="17300"/>
                  <a:pt x="1227780" y="0"/>
                </a:cubicBezTo>
                <a:cubicBezTo>
                  <a:pt x="1505417" y="-17300"/>
                  <a:pt x="1491682" y="-19995"/>
                  <a:pt x="1730342" y="0"/>
                </a:cubicBezTo>
                <a:cubicBezTo>
                  <a:pt x="1969002" y="19995"/>
                  <a:pt x="2251005" y="17230"/>
                  <a:pt x="2411029" y="0"/>
                </a:cubicBezTo>
                <a:cubicBezTo>
                  <a:pt x="2571053" y="-17230"/>
                  <a:pt x="2788827" y="-10914"/>
                  <a:pt x="2913591" y="0"/>
                </a:cubicBezTo>
                <a:cubicBezTo>
                  <a:pt x="3038355" y="10914"/>
                  <a:pt x="3303337" y="13508"/>
                  <a:pt x="3416154" y="0"/>
                </a:cubicBezTo>
                <a:cubicBezTo>
                  <a:pt x="3528971" y="-13508"/>
                  <a:pt x="4131308" y="-29289"/>
                  <a:pt x="4453087" y="0"/>
                </a:cubicBezTo>
                <a:cubicBezTo>
                  <a:pt x="4459739" y="121972"/>
                  <a:pt x="4477886" y="320239"/>
                  <a:pt x="4453087" y="584302"/>
                </a:cubicBezTo>
                <a:cubicBezTo>
                  <a:pt x="4428288" y="848365"/>
                  <a:pt x="4448477" y="958559"/>
                  <a:pt x="4453087" y="1119911"/>
                </a:cubicBezTo>
                <a:cubicBezTo>
                  <a:pt x="4457697" y="1281263"/>
                  <a:pt x="4423385" y="1531817"/>
                  <a:pt x="4453087" y="1777251"/>
                </a:cubicBezTo>
                <a:cubicBezTo>
                  <a:pt x="4482789" y="2022685"/>
                  <a:pt x="4478604" y="2254892"/>
                  <a:pt x="4453087" y="2434590"/>
                </a:cubicBezTo>
                <a:cubicBezTo>
                  <a:pt x="4293947" y="2401900"/>
                  <a:pt x="4072870" y="2402528"/>
                  <a:pt x="3772401" y="2434590"/>
                </a:cubicBezTo>
                <a:cubicBezTo>
                  <a:pt x="3471932" y="2466652"/>
                  <a:pt x="3427450" y="2407330"/>
                  <a:pt x="3136246" y="2434590"/>
                </a:cubicBezTo>
                <a:cubicBezTo>
                  <a:pt x="2845043" y="2461850"/>
                  <a:pt x="2728509" y="2417695"/>
                  <a:pt x="2589152" y="2434590"/>
                </a:cubicBezTo>
                <a:cubicBezTo>
                  <a:pt x="2449795" y="2451485"/>
                  <a:pt x="2173414" y="2413361"/>
                  <a:pt x="1997528" y="2434590"/>
                </a:cubicBezTo>
                <a:cubicBezTo>
                  <a:pt x="1821642" y="2455819"/>
                  <a:pt x="1689510" y="2443284"/>
                  <a:pt x="1494965" y="2434590"/>
                </a:cubicBezTo>
                <a:cubicBezTo>
                  <a:pt x="1300420" y="2425896"/>
                  <a:pt x="1183616" y="2409966"/>
                  <a:pt x="903341" y="2434590"/>
                </a:cubicBezTo>
                <a:cubicBezTo>
                  <a:pt x="623066" y="2459214"/>
                  <a:pt x="385529" y="2470253"/>
                  <a:pt x="0" y="2434590"/>
                </a:cubicBezTo>
                <a:cubicBezTo>
                  <a:pt x="9745" y="2166790"/>
                  <a:pt x="24600" y="2010218"/>
                  <a:pt x="0" y="1801597"/>
                </a:cubicBezTo>
                <a:cubicBezTo>
                  <a:pt x="-24600" y="1592976"/>
                  <a:pt x="-20063" y="1436631"/>
                  <a:pt x="0" y="1144257"/>
                </a:cubicBezTo>
                <a:cubicBezTo>
                  <a:pt x="20063" y="851883"/>
                  <a:pt x="21996" y="787517"/>
                  <a:pt x="0" y="559956"/>
                </a:cubicBezTo>
                <a:cubicBezTo>
                  <a:pt x="-21996" y="332395"/>
                  <a:pt x="-24774" y="166168"/>
                  <a:pt x="0" y="0"/>
                </a:cubicBezTo>
                <a:close/>
              </a:path>
              <a:path w="4453087" h="2434590" stroke="0" extrusionOk="0">
                <a:moveTo>
                  <a:pt x="0" y="0"/>
                </a:moveTo>
                <a:cubicBezTo>
                  <a:pt x="127926" y="-12204"/>
                  <a:pt x="375367" y="29874"/>
                  <a:pt x="636155" y="0"/>
                </a:cubicBezTo>
                <a:cubicBezTo>
                  <a:pt x="896943" y="-29874"/>
                  <a:pt x="1079578" y="-22011"/>
                  <a:pt x="1227780" y="0"/>
                </a:cubicBezTo>
                <a:cubicBezTo>
                  <a:pt x="1375983" y="22011"/>
                  <a:pt x="1612320" y="-19568"/>
                  <a:pt x="1908466" y="0"/>
                </a:cubicBezTo>
                <a:cubicBezTo>
                  <a:pt x="2204612" y="19568"/>
                  <a:pt x="2320817" y="-30898"/>
                  <a:pt x="2544621" y="0"/>
                </a:cubicBezTo>
                <a:cubicBezTo>
                  <a:pt x="2768425" y="30898"/>
                  <a:pt x="2985517" y="10994"/>
                  <a:pt x="3180776" y="0"/>
                </a:cubicBezTo>
                <a:cubicBezTo>
                  <a:pt x="3376035" y="-10994"/>
                  <a:pt x="3447553" y="1621"/>
                  <a:pt x="3683339" y="0"/>
                </a:cubicBezTo>
                <a:cubicBezTo>
                  <a:pt x="3919125" y="-1621"/>
                  <a:pt x="4071358" y="-36102"/>
                  <a:pt x="4453087" y="0"/>
                </a:cubicBezTo>
                <a:cubicBezTo>
                  <a:pt x="4423916" y="236240"/>
                  <a:pt x="4482831" y="427414"/>
                  <a:pt x="4453087" y="657339"/>
                </a:cubicBezTo>
                <a:cubicBezTo>
                  <a:pt x="4423343" y="887264"/>
                  <a:pt x="4436743" y="966873"/>
                  <a:pt x="4453087" y="1217295"/>
                </a:cubicBezTo>
                <a:cubicBezTo>
                  <a:pt x="4469431" y="1467717"/>
                  <a:pt x="4479958" y="1511938"/>
                  <a:pt x="4453087" y="1777251"/>
                </a:cubicBezTo>
                <a:cubicBezTo>
                  <a:pt x="4426216" y="2042564"/>
                  <a:pt x="4427164" y="2111619"/>
                  <a:pt x="4453087" y="2434590"/>
                </a:cubicBezTo>
                <a:cubicBezTo>
                  <a:pt x="4261313" y="2443169"/>
                  <a:pt x="4154614" y="2419111"/>
                  <a:pt x="3861463" y="2434590"/>
                </a:cubicBezTo>
                <a:cubicBezTo>
                  <a:pt x="3568312" y="2450069"/>
                  <a:pt x="3496829" y="2430590"/>
                  <a:pt x="3314369" y="2434590"/>
                </a:cubicBezTo>
                <a:cubicBezTo>
                  <a:pt x="3131909" y="2438590"/>
                  <a:pt x="2906164" y="2424778"/>
                  <a:pt x="2633683" y="2434590"/>
                </a:cubicBezTo>
                <a:cubicBezTo>
                  <a:pt x="2361202" y="2444402"/>
                  <a:pt x="2219566" y="2425961"/>
                  <a:pt x="1908466" y="2434590"/>
                </a:cubicBezTo>
                <a:cubicBezTo>
                  <a:pt x="1597366" y="2443219"/>
                  <a:pt x="1470033" y="2437419"/>
                  <a:pt x="1316841" y="2434590"/>
                </a:cubicBezTo>
                <a:cubicBezTo>
                  <a:pt x="1163649" y="2431761"/>
                  <a:pt x="789727" y="2444334"/>
                  <a:pt x="636155" y="2434590"/>
                </a:cubicBezTo>
                <a:cubicBezTo>
                  <a:pt x="482583" y="2424846"/>
                  <a:pt x="306970" y="2431382"/>
                  <a:pt x="0" y="2434590"/>
                </a:cubicBezTo>
                <a:cubicBezTo>
                  <a:pt x="5773" y="2149714"/>
                  <a:pt x="23496" y="1912022"/>
                  <a:pt x="0" y="1777251"/>
                </a:cubicBezTo>
                <a:cubicBezTo>
                  <a:pt x="-23496" y="1642480"/>
                  <a:pt x="26522" y="1311543"/>
                  <a:pt x="0" y="1192949"/>
                </a:cubicBezTo>
                <a:cubicBezTo>
                  <a:pt x="-26522" y="1074355"/>
                  <a:pt x="-28795" y="739569"/>
                  <a:pt x="0" y="535610"/>
                </a:cubicBezTo>
                <a:cubicBezTo>
                  <a:pt x="28795" y="331651"/>
                  <a:pt x="-24201" y="24372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2110691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Real Operator, Real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4160520" cy="413308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41605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Tunisie Telecom — Data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" y="1170432"/>
            <a:ext cx="3931920" cy="219456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70432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— Network KPIs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4264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cell_id · timestamp · region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6642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throughput_mbps · latency_ms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901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packet_loss_pct · active_users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139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rsrp_dbm · alarm_severity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2450592"/>
            <a:ext cx="3931920" cy="219456"/>
          </a:xfrm>
          <a:prstGeom prst="rect">
            <a:avLst/>
          </a:prstGeom>
          <a:solidFill>
            <a:srgbClr val="27AE60">
              <a:alpha val="3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50592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— Subscriber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27066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subscriber_id · operator · line_type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944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 · revenue_tnd · churn_flag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182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data_usage_gb · voice_min · sms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3419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appu_tnd · dou_gb · complaints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" y="3749040"/>
            <a:ext cx="3931920" cy="548640"/>
          </a:xfrm>
          <a:prstGeom prst="rect">
            <a:avLst/>
          </a:prstGeom>
          <a:solidFill>
            <a:srgbClr val="0D0F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85616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MSISDN hash · No PII · Gouvernorat-level only · Dual-mode: Real (default) | Synthetic (fallback)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279392" cy="4133088"/>
          </a:xfrm>
          <a:prstGeom prst="rect">
            <a:avLst/>
          </a:prstGeom>
          <a:solidFill>
            <a:srgbClr val="0A0D14"/>
          </a:solidFill>
          <a:ln w="19050">
            <a:solidFill>
              <a:srgbClr val="2E86A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804672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804672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828032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1664" y="4828032"/>
            <a:ext cx="109728" cy="1097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670048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 #6 — Data Ingestion Flow ]</a:t>
            </a:r>
            <a:endParaRPr lang="en-US" sz="1100" dirty="0"/>
          </a:p>
        </p:txBody>
      </p:sp>
      <p:pic>
        <p:nvPicPr>
          <p:cNvPr id="29" name="Picture 28" descr="A diagram of a software flow&#10;&#10;AI-generated content may be incorrect.">
            <a:extLst>
              <a:ext uri="{FF2B5EF4-FFF2-40B4-BE49-F238E27FC236}">
                <a16:creationId xmlns:a16="http://schemas.microsoft.com/office/drawing/2014/main" id="{C5027E6A-3E7C-95B4-483F-C6E692BC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5" y="804672"/>
            <a:ext cx="4341993" cy="4160771"/>
          </a:xfrm>
          <a:custGeom>
            <a:avLst/>
            <a:gdLst>
              <a:gd name="connsiteX0" fmla="*/ 0 w 4341993"/>
              <a:gd name="connsiteY0" fmla="*/ 0 h 4160771"/>
              <a:gd name="connsiteX1" fmla="*/ 707125 w 4341993"/>
              <a:gd name="connsiteY1" fmla="*/ 0 h 4160771"/>
              <a:gd name="connsiteX2" fmla="*/ 1197149 w 4341993"/>
              <a:gd name="connsiteY2" fmla="*/ 0 h 4160771"/>
              <a:gd name="connsiteX3" fmla="*/ 1730594 w 4341993"/>
              <a:gd name="connsiteY3" fmla="*/ 0 h 4160771"/>
              <a:gd name="connsiteX4" fmla="*/ 2307459 w 4341993"/>
              <a:gd name="connsiteY4" fmla="*/ 0 h 4160771"/>
              <a:gd name="connsiteX5" fmla="*/ 2927744 w 4341993"/>
              <a:gd name="connsiteY5" fmla="*/ 0 h 4160771"/>
              <a:gd name="connsiteX6" fmla="*/ 3504609 w 4341993"/>
              <a:gd name="connsiteY6" fmla="*/ 0 h 4160771"/>
              <a:gd name="connsiteX7" fmla="*/ 4341993 w 4341993"/>
              <a:gd name="connsiteY7" fmla="*/ 0 h 4160771"/>
              <a:gd name="connsiteX8" fmla="*/ 4341993 w 4341993"/>
              <a:gd name="connsiteY8" fmla="*/ 693462 h 4160771"/>
              <a:gd name="connsiteX9" fmla="*/ 4341993 w 4341993"/>
              <a:gd name="connsiteY9" fmla="*/ 1303708 h 4160771"/>
              <a:gd name="connsiteX10" fmla="*/ 4341993 w 4341993"/>
              <a:gd name="connsiteY10" fmla="*/ 2080386 h 4160771"/>
              <a:gd name="connsiteX11" fmla="*/ 4341993 w 4341993"/>
              <a:gd name="connsiteY11" fmla="*/ 2690632 h 4160771"/>
              <a:gd name="connsiteX12" fmla="*/ 4341993 w 4341993"/>
              <a:gd name="connsiteY12" fmla="*/ 3342486 h 4160771"/>
              <a:gd name="connsiteX13" fmla="*/ 4341993 w 4341993"/>
              <a:gd name="connsiteY13" fmla="*/ 4160771 h 4160771"/>
              <a:gd name="connsiteX14" fmla="*/ 3678288 w 4341993"/>
              <a:gd name="connsiteY14" fmla="*/ 4160771 h 4160771"/>
              <a:gd name="connsiteX15" fmla="*/ 3188263 w 4341993"/>
              <a:gd name="connsiteY15" fmla="*/ 4160771 h 4160771"/>
              <a:gd name="connsiteX16" fmla="*/ 2611399 w 4341993"/>
              <a:gd name="connsiteY16" fmla="*/ 4160771 h 4160771"/>
              <a:gd name="connsiteX17" fmla="*/ 1947694 w 4341993"/>
              <a:gd name="connsiteY17" fmla="*/ 4160771 h 4160771"/>
              <a:gd name="connsiteX18" fmla="*/ 1240569 w 4341993"/>
              <a:gd name="connsiteY18" fmla="*/ 4160771 h 4160771"/>
              <a:gd name="connsiteX19" fmla="*/ 576865 w 4341993"/>
              <a:gd name="connsiteY19" fmla="*/ 4160771 h 4160771"/>
              <a:gd name="connsiteX20" fmla="*/ 0 w 4341993"/>
              <a:gd name="connsiteY20" fmla="*/ 4160771 h 4160771"/>
              <a:gd name="connsiteX21" fmla="*/ 0 w 4341993"/>
              <a:gd name="connsiteY21" fmla="*/ 3467309 h 4160771"/>
              <a:gd name="connsiteX22" fmla="*/ 0 w 4341993"/>
              <a:gd name="connsiteY22" fmla="*/ 2898670 h 4160771"/>
              <a:gd name="connsiteX23" fmla="*/ 0 w 4341993"/>
              <a:gd name="connsiteY23" fmla="*/ 2121993 h 4160771"/>
              <a:gd name="connsiteX24" fmla="*/ 0 w 4341993"/>
              <a:gd name="connsiteY24" fmla="*/ 1553355 h 4160771"/>
              <a:gd name="connsiteX25" fmla="*/ 0 w 4341993"/>
              <a:gd name="connsiteY25" fmla="*/ 776677 h 4160771"/>
              <a:gd name="connsiteX26" fmla="*/ 0 w 4341993"/>
              <a:gd name="connsiteY26" fmla="*/ 0 h 416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341993" h="4160771" fill="none" extrusionOk="0">
                <a:moveTo>
                  <a:pt x="0" y="0"/>
                </a:moveTo>
                <a:cubicBezTo>
                  <a:pt x="220226" y="-34551"/>
                  <a:pt x="406147" y="32821"/>
                  <a:pt x="707125" y="0"/>
                </a:cubicBezTo>
                <a:cubicBezTo>
                  <a:pt x="1008104" y="-32821"/>
                  <a:pt x="988189" y="2766"/>
                  <a:pt x="1197149" y="0"/>
                </a:cubicBezTo>
                <a:cubicBezTo>
                  <a:pt x="1406109" y="-2766"/>
                  <a:pt x="1554216" y="-19944"/>
                  <a:pt x="1730594" y="0"/>
                </a:cubicBezTo>
                <a:cubicBezTo>
                  <a:pt x="1906973" y="19944"/>
                  <a:pt x="2074401" y="23047"/>
                  <a:pt x="2307459" y="0"/>
                </a:cubicBezTo>
                <a:cubicBezTo>
                  <a:pt x="2540518" y="-23047"/>
                  <a:pt x="2690407" y="-8459"/>
                  <a:pt x="2927744" y="0"/>
                </a:cubicBezTo>
                <a:cubicBezTo>
                  <a:pt x="3165081" y="8459"/>
                  <a:pt x="3288288" y="-14786"/>
                  <a:pt x="3504609" y="0"/>
                </a:cubicBezTo>
                <a:cubicBezTo>
                  <a:pt x="3720931" y="14786"/>
                  <a:pt x="3950744" y="-11222"/>
                  <a:pt x="4341993" y="0"/>
                </a:cubicBezTo>
                <a:cubicBezTo>
                  <a:pt x="4320717" y="215225"/>
                  <a:pt x="4335364" y="351080"/>
                  <a:pt x="4341993" y="693462"/>
                </a:cubicBezTo>
                <a:cubicBezTo>
                  <a:pt x="4348622" y="1035844"/>
                  <a:pt x="4329964" y="1093461"/>
                  <a:pt x="4341993" y="1303708"/>
                </a:cubicBezTo>
                <a:cubicBezTo>
                  <a:pt x="4354022" y="1513955"/>
                  <a:pt x="4351794" y="1890237"/>
                  <a:pt x="4341993" y="2080386"/>
                </a:cubicBezTo>
                <a:cubicBezTo>
                  <a:pt x="4332192" y="2270535"/>
                  <a:pt x="4325469" y="2503691"/>
                  <a:pt x="4341993" y="2690632"/>
                </a:cubicBezTo>
                <a:cubicBezTo>
                  <a:pt x="4358517" y="2877573"/>
                  <a:pt x="4330904" y="3185702"/>
                  <a:pt x="4341993" y="3342486"/>
                </a:cubicBezTo>
                <a:cubicBezTo>
                  <a:pt x="4353082" y="3499270"/>
                  <a:pt x="4363475" y="3890824"/>
                  <a:pt x="4341993" y="4160771"/>
                </a:cubicBezTo>
                <a:cubicBezTo>
                  <a:pt x="4125649" y="4152306"/>
                  <a:pt x="3996781" y="4140183"/>
                  <a:pt x="3678288" y="4160771"/>
                </a:cubicBezTo>
                <a:cubicBezTo>
                  <a:pt x="3359796" y="4181359"/>
                  <a:pt x="3300808" y="4153151"/>
                  <a:pt x="3188263" y="4160771"/>
                </a:cubicBezTo>
                <a:cubicBezTo>
                  <a:pt x="3075718" y="4168391"/>
                  <a:pt x="2786464" y="4180162"/>
                  <a:pt x="2611399" y="4160771"/>
                </a:cubicBezTo>
                <a:cubicBezTo>
                  <a:pt x="2436334" y="4141380"/>
                  <a:pt x="2123011" y="4169708"/>
                  <a:pt x="1947694" y="4160771"/>
                </a:cubicBezTo>
                <a:cubicBezTo>
                  <a:pt x="1772377" y="4151834"/>
                  <a:pt x="1529862" y="4154894"/>
                  <a:pt x="1240569" y="4160771"/>
                </a:cubicBezTo>
                <a:cubicBezTo>
                  <a:pt x="951276" y="4166648"/>
                  <a:pt x="904053" y="4140968"/>
                  <a:pt x="576865" y="4160771"/>
                </a:cubicBezTo>
                <a:cubicBezTo>
                  <a:pt x="249677" y="4180574"/>
                  <a:pt x="229702" y="4187888"/>
                  <a:pt x="0" y="4160771"/>
                </a:cubicBezTo>
                <a:cubicBezTo>
                  <a:pt x="-34636" y="3897610"/>
                  <a:pt x="-27459" y="3696951"/>
                  <a:pt x="0" y="3467309"/>
                </a:cubicBezTo>
                <a:cubicBezTo>
                  <a:pt x="27459" y="3237667"/>
                  <a:pt x="20884" y="3103944"/>
                  <a:pt x="0" y="2898670"/>
                </a:cubicBezTo>
                <a:cubicBezTo>
                  <a:pt x="-20884" y="2693396"/>
                  <a:pt x="-18625" y="2360851"/>
                  <a:pt x="0" y="2121993"/>
                </a:cubicBezTo>
                <a:cubicBezTo>
                  <a:pt x="18625" y="1883135"/>
                  <a:pt x="21423" y="1822194"/>
                  <a:pt x="0" y="1553355"/>
                </a:cubicBezTo>
                <a:cubicBezTo>
                  <a:pt x="-21423" y="1284516"/>
                  <a:pt x="-8733" y="1013323"/>
                  <a:pt x="0" y="776677"/>
                </a:cubicBezTo>
                <a:cubicBezTo>
                  <a:pt x="8733" y="540031"/>
                  <a:pt x="37892" y="347377"/>
                  <a:pt x="0" y="0"/>
                </a:cubicBezTo>
                <a:close/>
              </a:path>
              <a:path w="4341993" h="4160771" stroke="0" extrusionOk="0">
                <a:moveTo>
                  <a:pt x="0" y="0"/>
                </a:moveTo>
                <a:cubicBezTo>
                  <a:pt x="237758" y="-23882"/>
                  <a:pt x="383334" y="-15903"/>
                  <a:pt x="533445" y="0"/>
                </a:cubicBezTo>
                <a:cubicBezTo>
                  <a:pt x="683556" y="15903"/>
                  <a:pt x="884546" y="3144"/>
                  <a:pt x="1110310" y="0"/>
                </a:cubicBezTo>
                <a:cubicBezTo>
                  <a:pt x="1336075" y="-3144"/>
                  <a:pt x="1591365" y="2891"/>
                  <a:pt x="1817434" y="0"/>
                </a:cubicBezTo>
                <a:cubicBezTo>
                  <a:pt x="2043503" y="-2891"/>
                  <a:pt x="2246332" y="21357"/>
                  <a:pt x="2394299" y="0"/>
                </a:cubicBezTo>
                <a:cubicBezTo>
                  <a:pt x="2542266" y="-21357"/>
                  <a:pt x="2835662" y="-3476"/>
                  <a:pt x="2971164" y="0"/>
                </a:cubicBezTo>
                <a:cubicBezTo>
                  <a:pt x="3106666" y="3476"/>
                  <a:pt x="3298446" y="-27543"/>
                  <a:pt x="3591448" y="0"/>
                </a:cubicBezTo>
                <a:cubicBezTo>
                  <a:pt x="3884450" y="27543"/>
                  <a:pt x="4168784" y="-24001"/>
                  <a:pt x="4341993" y="0"/>
                </a:cubicBezTo>
                <a:cubicBezTo>
                  <a:pt x="4310931" y="212850"/>
                  <a:pt x="4334784" y="602428"/>
                  <a:pt x="4341993" y="776677"/>
                </a:cubicBezTo>
                <a:cubicBezTo>
                  <a:pt x="4349202" y="950926"/>
                  <a:pt x="4318850" y="1157512"/>
                  <a:pt x="4341993" y="1386924"/>
                </a:cubicBezTo>
                <a:cubicBezTo>
                  <a:pt x="4365136" y="1616336"/>
                  <a:pt x="4318898" y="1829529"/>
                  <a:pt x="4341993" y="1997170"/>
                </a:cubicBezTo>
                <a:cubicBezTo>
                  <a:pt x="4365088" y="2164811"/>
                  <a:pt x="4325969" y="2448512"/>
                  <a:pt x="4341993" y="2690632"/>
                </a:cubicBezTo>
                <a:cubicBezTo>
                  <a:pt x="4358017" y="2932752"/>
                  <a:pt x="4346778" y="3248071"/>
                  <a:pt x="4341993" y="3467309"/>
                </a:cubicBezTo>
                <a:cubicBezTo>
                  <a:pt x="4337208" y="3686547"/>
                  <a:pt x="4332596" y="3861885"/>
                  <a:pt x="4341993" y="4160771"/>
                </a:cubicBezTo>
                <a:cubicBezTo>
                  <a:pt x="4168898" y="4141002"/>
                  <a:pt x="3985491" y="4144396"/>
                  <a:pt x="3634868" y="4160771"/>
                </a:cubicBezTo>
                <a:cubicBezTo>
                  <a:pt x="3284245" y="4177146"/>
                  <a:pt x="3206787" y="4186785"/>
                  <a:pt x="2927744" y="4160771"/>
                </a:cubicBezTo>
                <a:cubicBezTo>
                  <a:pt x="2648701" y="4134757"/>
                  <a:pt x="2631221" y="4181071"/>
                  <a:pt x="2394299" y="4160771"/>
                </a:cubicBezTo>
                <a:cubicBezTo>
                  <a:pt x="2157377" y="4140471"/>
                  <a:pt x="2033117" y="4152986"/>
                  <a:pt x="1904274" y="4160771"/>
                </a:cubicBezTo>
                <a:cubicBezTo>
                  <a:pt x="1775431" y="4168556"/>
                  <a:pt x="1586797" y="4188071"/>
                  <a:pt x="1327409" y="4160771"/>
                </a:cubicBezTo>
                <a:cubicBezTo>
                  <a:pt x="1068022" y="4133471"/>
                  <a:pt x="819643" y="4176492"/>
                  <a:pt x="663705" y="4160771"/>
                </a:cubicBezTo>
                <a:cubicBezTo>
                  <a:pt x="507767" y="4145050"/>
                  <a:pt x="223970" y="4191138"/>
                  <a:pt x="0" y="4160771"/>
                </a:cubicBezTo>
                <a:cubicBezTo>
                  <a:pt x="33954" y="3932506"/>
                  <a:pt x="-12371" y="3746244"/>
                  <a:pt x="0" y="3425701"/>
                </a:cubicBezTo>
                <a:cubicBezTo>
                  <a:pt x="12371" y="3105158"/>
                  <a:pt x="6475" y="3081420"/>
                  <a:pt x="0" y="2773847"/>
                </a:cubicBezTo>
                <a:cubicBezTo>
                  <a:pt x="-6475" y="2466274"/>
                  <a:pt x="-8157" y="2421577"/>
                  <a:pt x="0" y="2205209"/>
                </a:cubicBezTo>
                <a:cubicBezTo>
                  <a:pt x="8157" y="1988841"/>
                  <a:pt x="-8231" y="1661437"/>
                  <a:pt x="0" y="1428531"/>
                </a:cubicBezTo>
                <a:cubicBezTo>
                  <a:pt x="8231" y="1195625"/>
                  <a:pt x="-9358" y="892335"/>
                  <a:pt x="0" y="651854"/>
                </a:cubicBezTo>
                <a:cubicBezTo>
                  <a:pt x="9358" y="411373"/>
                  <a:pt x="22137" y="30921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6563239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Different: Competitive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8595360" cy="329184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046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24328" y="80467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80467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O+B Fusion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5192" y="80467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35624" y="80467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06056" y="804672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Telecom-Specific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207008"/>
            <a:ext cx="8595360" cy="47548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2070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12070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12070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12070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12070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0336" y="12070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" y="1755648"/>
            <a:ext cx="8595360" cy="475488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755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ZSM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608" y="175564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175564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175564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9904" y="175564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0336" y="175564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" y="2304288"/>
            <a:ext cx="8595360" cy="475488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3042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78608" y="23042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23042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9472" y="23042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9904" y="23042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0336" y="230428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92608" y="2852928"/>
            <a:ext cx="8595360" cy="475488"/>
          </a:xfrm>
          <a:prstGeom prst="rect">
            <a:avLst/>
          </a:prstGeom>
          <a:solidFill>
            <a:srgbClr val="1E25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8529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SmartCare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78608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49040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19472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89904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60336" y="28529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92608" y="3401568"/>
            <a:ext cx="8595360" cy="475488"/>
          </a:xfrm>
          <a:prstGeom prst="rect">
            <a:avLst/>
          </a:prstGeom>
          <a:solidFill>
            <a:srgbClr val="8E44AD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40156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78608" y="3401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49040" y="3401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919472" y="3401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89904" y="3401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60336" y="340156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92608" y="4992624"/>
            <a:ext cx="8558784" cy="0"/>
          </a:xfrm>
          <a:prstGeom prst="rect">
            <a:avLst/>
          </a:prstGeom>
          <a:noFill/>
          <a:ln/>
        </p:spPr>
      </p:sp>
      <p:sp>
        <p:nvSpPr>
          <p:cNvPr id="54" name="Text 52"/>
          <p:cNvSpPr/>
          <p:nvPr/>
        </p:nvSpPr>
        <p:spPr>
          <a:xfrm>
            <a:off x="310896" y="3998039"/>
            <a:ext cx="8558784" cy="891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project combines: Real Data + O+B Convergence + Cloud-Native + Autonomous Actions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Deliverables So Far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04672"/>
            <a:ext cx="20116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7043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Docker Stack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2103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· One-command deploy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80467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804672"/>
            <a:ext cx="201168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170432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ML Models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42032" y="2103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Tunisie Telecom data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08576" y="80467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08576" y="804672"/>
            <a:ext cx="20116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17043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0016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Action Engine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0016" y="2103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prioritised recommendations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766560" y="80467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804672"/>
            <a:ext cx="201168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17043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Data Lake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21031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Processed · Curated (MinIO)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92608" y="281635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92608" y="2816352"/>
            <a:ext cx="2011680" cy="274320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3182112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84048" y="41148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endpoints for results + actions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450592" y="281635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450592" y="2816352"/>
            <a:ext cx="201168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3182112"/>
            <a:ext cx="475488" cy="4754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542032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PostgreSQL Schema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42032" y="41148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lineage via run_id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608576" y="281635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08576" y="2816352"/>
            <a:ext cx="201168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2" y="3182112"/>
            <a:ext cx="475488" cy="4754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00016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HCS-Ready Architecture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0016" y="41148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ECS · OBS · RDS · VPC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766560" y="2816352"/>
            <a:ext cx="2011680" cy="1828800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766560" y="2816352"/>
            <a:ext cx="20116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3182112"/>
            <a:ext cx="475488" cy="4754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0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58000" y="41148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+ architecture docs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8E44AD">
              <a:alpha val="10000"/>
            </a:srgbClr>
          </a:solidFill>
          <a:ln w="12700">
            <a:solidFill>
              <a:srgbClr val="8E44AD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42062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4206240" cy="685800"/>
          </a:xfrm>
          <a:prstGeom prst="rect">
            <a:avLst/>
          </a:prstGeom>
          <a:solidFill>
            <a:srgbClr val="161B26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777240"/>
            <a:ext cx="54864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32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action engine rules with Huawei team feedback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4206240" cy="685800"/>
          </a:xfrm>
          <a:prstGeom prst="rect">
            <a:avLst/>
          </a:prstGeom>
          <a:solidFill>
            <a:srgbClr val="161B26"/>
          </a:solidFill>
          <a:ln w="19050">
            <a:solidFill>
              <a:srgbClr val="CF0A2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581912"/>
            <a:ext cx="54864" cy="685800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36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Huawei Cloud Stack (HCS) environment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206240" cy="685800"/>
          </a:xfrm>
          <a:prstGeom prst="rect">
            <a:avLst/>
          </a:prstGeom>
          <a:solidFill>
            <a:srgbClr val="161B26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86584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41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660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· Advanced ML (LSTM, Transformers)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91256"/>
            <a:ext cx="4206240" cy="685800"/>
          </a:xfrm>
          <a:prstGeom prst="rect">
            <a:avLst/>
          </a:prstGeom>
          <a:solidFill>
            <a:srgbClr val="161B26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91256"/>
            <a:ext cx="54864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465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· Path toward ADN L5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502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937760" y="12618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0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937760" y="1737360"/>
            <a:ext cx="384048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8470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AI Operations Agent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CEM–CVM Intelligence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633472"/>
            <a:ext cx="3840480" cy="32918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2633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73952" y="26334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Souhayl Guenichi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035808"/>
            <a:ext cx="3840480" cy="32918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73952" y="30358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— Engineering Cycle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438144"/>
            <a:ext cx="3840480" cy="32918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3438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73952" y="34381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Tunisia — Cloud IT / Sales-Solution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840480"/>
            <a:ext cx="3840480" cy="329184"/>
          </a:xfrm>
          <a:prstGeom prst="rect">
            <a:avLst/>
          </a:prstGeom>
          <a:solidFill>
            <a:srgbClr val="161B26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73952" y="38404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352544"/>
            <a:ext cx="1463040" cy="256032"/>
          </a:xfrm>
          <a:prstGeom prst="rect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352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2025–2026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4352544"/>
            <a:ext cx="228600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352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 L4 — Highly Autonomous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874</Words>
  <Application>Microsoft Office PowerPoint</Application>
  <PresentationFormat>On-screen Show (16:9)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Supervisor Meeting — Cloud-Native AI Operations Agent</dc:title>
  <dc:subject>PptxGenJS Presentation</dc:subject>
  <dc:creator>PptxGenJS</dc:creator>
  <cp:lastModifiedBy>Souhayl Guenichi</cp:lastModifiedBy>
  <cp:revision>2</cp:revision>
  <dcterms:created xsi:type="dcterms:W3CDTF">2026-03-12T01:20:15Z</dcterms:created>
  <dcterms:modified xsi:type="dcterms:W3CDTF">2026-03-12T02:57:18Z</dcterms:modified>
</cp:coreProperties>
</file>